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5DCA4-DC7E-4F3E-91AD-66CDB79674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6FF0BC-31DE-4FDA-A497-5F52B4A1BD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3751F2-2111-46F4-879F-D1BE68D18B50}"/>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45120646-7CE0-4038-875A-2A1C0226D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01017-08D5-49D3-AB84-7B9534CBCF68}"/>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3752241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5584-1B5C-46F0-844E-C1CB77D9FD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D2BC8A-9589-45F1-A7CF-6E39B004558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E21802-878C-4C93-A0F4-0F738D3C18D7}"/>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73D827E6-85B8-4AD4-A900-D9842843B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82B03-56F2-495F-882B-864B102CAABF}"/>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1295879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15A4B-8200-4CA5-A988-4275EC2603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03F0D0-93A2-42E0-9C03-ED17301485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231D4DC-A3B8-4F9E-97BD-9A965307DC35}"/>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6DE2AF0B-532D-4DA8-BC11-95F4C1CD4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56191-8A40-406A-8EDA-4C32F5EF90BF}"/>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2921119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B7756-48E6-4FBB-9CB2-EE3F09767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AB832E-0026-4195-A135-A67326EB7E2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4F0FFA-DB40-4278-8424-92768920917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2428A0-3FBB-4E2A-9FDF-75C2C42A4B12}"/>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6" name="Footer Placeholder 5">
            <a:extLst>
              <a:ext uri="{FF2B5EF4-FFF2-40B4-BE49-F238E27FC236}">
                <a16:creationId xmlns:a16="http://schemas.microsoft.com/office/drawing/2014/main" id="{1AC3F535-314E-44B3-96C4-D80B9CB5F2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D3341-82C4-4054-8D88-E1468AAF6990}"/>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194555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E4DB-5240-4932-ABA0-351A150C82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EFC69B-304D-4B7D-A362-4DC72B8FD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DC3C8B5-C8DE-4FC2-84D2-D841A6EC256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B8C93D-BA9D-47F8-83B4-F7B358E055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AE2D40-4AD0-4C06-A4E1-29A517A99C4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D9C7D6-1310-4F7F-9C0A-9E57B911E78D}"/>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8" name="Footer Placeholder 7">
            <a:extLst>
              <a:ext uri="{FF2B5EF4-FFF2-40B4-BE49-F238E27FC236}">
                <a16:creationId xmlns:a16="http://schemas.microsoft.com/office/drawing/2014/main" id="{0FFAFC9A-0544-4B67-A516-483FA5DE88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A1FB33-57FA-4E87-9B80-D3A8FC0C8292}"/>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410154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B5A2-2440-469F-B612-B976CBAAD5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84A3ED-B548-4D73-82F1-A5788CFC160F}"/>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4" name="Footer Placeholder 3">
            <a:extLst>
              <a:ext uri="{FF2B5EF4-FFF2-40B4-BE49-F238E27FC236}">
                <a16:creationId xmlns:a16="http://schemas.microsoft.com/office/drawing/2014/main" id="{28CBBC43-7B55-419D-B9A8-D15C32C979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73C7EE-E424-4FA9-BB36-6BD0A370B8EA}"/>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3543344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E9EB93-C8D5-4097-BE3D-6AF27BCA56EE}"/>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3" name="Footer Placeholder 2">
            <a:extLst>
              <a:ext uri="{FF2B5EF4-FFF2-40B4-BE49-F238E27FC236}">
                <a16:creationId xmlns:a16="http://schemas.microsoft.com/office/drawing/2014/main" id="{3FFB1C38-688C-4BBA-8FA2-3420E2F5E4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CBA577-7AA7-4D78-93CD-ADA48B57AD3B}"/>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3974935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9BB81-88E6-4D5C-9E6D-149556E1C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1BC98C-1480-4DAC-A78E-349D32154F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6B89B6-2926-4170-9386-025108D91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BDB2D8-2D15-4FE7-834E-FD4BBDAE4F6A}"/>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6" name="Footer Placeholder 5">
            <a:extLst>
              <a:ext uri="{FF2B5EF4-FFF2-40B4-BE49-F238E27FC236}">
                <a16:creationId xmlns:a16="http://schemas.microsoft.com/office/drawing/2014/main" id="{74C0E4C4-E69C-408C-A56F-2A7EE824C7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DCA916-EE98-45EC-B729-14F1F36E5072}"/>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157309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796FA-2E2F-48E2-A90F-DBAAF091E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0196D-F9FC-47E8-881A-023AC180E8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B86607-1F24-4C75-A219-93AB3B0F4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03E4D7-EF45-4077-81EE-48829A71CE19}"/>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6" name="Footer Placeholder 5">
            <a:extLst>
              <a:ext uri="{FF2B5EF4-FFF2-40B4-BE49-F238E27FC236}">
                <a16:creationId xmlns:a16="http://schemas.microsoft.com/office/drawing/2014/main" id="{702380AE-7A79-42F8-868B-C6233D552D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7C4533-D371-4502-BFFA-E49A1FD33491}"/>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286463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18669-2A48-427A-B14D-B93AA240FD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9CD4B8-C2A3-4DB1-A7E3-13FE16018CB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2A161-9390-4BD2-B53B-C80C80C72103}"/>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FBBF04C5-2F45-45AB-B2CE-2037CE444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66C869-AC4D-46A8-8FDD-700A81B54918}"/>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1233013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2FF65C-2706-4C9E-B8EA-48A9C26ECD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BABB5E-AB7D-4E3D-A674-E378649805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517F8-48C1-45BE-8D7E-7CF0FD120F4D}"/>
              </a:ext>
            </a:extLst>
          </p:cNvPr>
          <p:cNvSpPr>
            <a:spLocks noGrp="1"/>
          </p:cNvSpPr>
          <p:nvPr>
            <p:ph type="dt" sz="half" idx="10"/>
          </p:nvPr>
        </p:nvSpPr>
        <p:spPr/>
        <p:txBody>
          <a:body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6D8CD632-6DE0-4D6B-86BE-A38F28E51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715FE-A3D7-459B-9CDD-4EFB892ED527}"/>
              </a:ext>
            </a:extLst>
          </p:cNvPr>
          <p:cNvSpPr>
            <a:spLocks noGrp="1"/>
          </p:cNvSpPr>
          <p:nvPr>
            <p:ph type="sldNum" sz="quarter" idx="12"/>
          </p:nvPr>
        </p:nvSpPr>
        <p:spPr/>
        <p:txBody>
          <a:bodyPr/>
          <a:lstStyle/>
          <a:p>
            <a:fld id="{84499059-1686-4B55-AE89-B3AB61222051}" type="slidenum">
              <a:rPr lang="en-US" smtClean="0"/>
              <a:t>‹#›</a:t>
            </a:fld>
            <a:endParaRPr lang="en-US"/>
          </a:p>
        </p:txBody>
      </p:sp>
    </p:spTree>
    <p:extLst>
      <p:ext uri="{BB962C8B-B14F-4D97-AF65-F5344CB8AC3E}">
        <p14:creationId xmlns:p14="http://schemas.microsoft.com/office/powerpoint/2010/main" val="331213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8EE9F5-E9E7-479D-9A46-9D69A46E59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924CCC-04A9-42C7-8581-86DD26CA1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5D01C-CED0-41F8-A5D1-6833FEDC5E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EBE0C3-43D7-4ED6-AB21-777E282FE4E4}" type="datetimeFigureOut">
              <a:rPr lang="en-US" smtClean="0"/>
              <a:t>4/21/2026</a:t>
            </a:fld>
            <a:endParaRPr lang="en-US"/>
          </a:p>
        </p:txBody>
      </p:sp>
      <p:sp>
        <p:nvSpPr>
          <p:cNvPr id="5" name="Footer Placeholder 4">
            <a:extLst>
              <a:ext uri="{FF2B5EF4-FFF2-40B4-BE49-F238E27FC236}">
                <a16:creationId xmlns:a16="http://schemas.microsoft.com/office/drawing/2014/main" id="{324A6B56-96CA-4866-AD52-36A8111983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559950-4FE3-4B2B-BC64-8C8D074E1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99059-1686-4B55-AE89-B3AB61222051}" type="slidenum">
              <a:rPr lang="en-US" smtClean="0"/>
              <a:t>‹#›</a:t>
            </a:fld>
            <a:endParaRPr lang="en-US"/>
          </a:p>
        </p:txBody>
      </p:sp>
    </p:spTree>
    <p:extLst>
      <p:ext uri="{BB962C8B-B14F-4D97-AF65-F5344CB8AC3E}">
        <p14:creationId xmlns:p14="http://schemas.microsoft.com/office/powerpoint/2010/main" val="429056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3D39-4284-4EF5-8804-4AEA6FFE9343}"/>
              </a:ext>
            </a:extLst>
          </p:cNvPr>
          <p:cNvSpPr>
            <a:spLocks noGrp="1"/>
          </p:cNvSpPr>
          <p:nvPr>
            <p:ph type="ctrTitle"/>
          </p:nvPr>
        </p:nvSpPr>
        <p:spPr>
          <a:xfrm>
            <a:off x="1524000" y="1030288"/>
            <a:ext cx="9144000" cy="878025"/>
          </a:xfrm>
        </p:spPr>
        <p:txBody>
          <a:bodyPr>
            <a:normAutofit/>
          </a:bodyPr>
          <a:lstStyle/>
          <a:p>
            <a:r>
              <a:rPr lang="en-US" sz="2500" b="1" dirty="0">
                <a:latin typeface="Times New Roman" panose="02020603050405020304" pitchFamily="18" charset="0"/>
                <a:cs typeface="Times New Roman" panose="02020603050405020304" pitchFamily="18" charset="0"/>
              </a:rPr>
              <a:t>AI-Based Recruitment and Resume Screening Application</a:t>
            </a:r>
            <a:endParaRPr lang="en-US" sz="2500" dirty="0"/>
          </a:p>
        </p:txBody>
      </p:sp>
      <p:sp>
        <p:nvSpPr>
          <p:cNvPr id="3" name="Subtitle 2">
            <a:extLst>
              <a:ext uri="{FF2B5EF4-FFF2-40B4-BE49-F238E27FC236}">
                <a16:creationId xmlns:a16="http://schemas.microsoft.com/office/drawing/2014/main" id="{160F864E-0DF2-44A4-B1B3-0B187ADF9832}"/>
              </a:ext>
            </a:extLst>
          </p:cNvPr>
          <p:cNvSpPr>
            <a:spLocks noGrp="1"/>
          </p:cNvSpPr>
          <p:nvPr>
            <p:ph type="subTitle" idx="1"/>
          </p:nvPr>
        </p:nvSpPr>
        <p:spPr>
          <a:xfrm>
            <a:off x="1524000" y="2213114"/>
            <a:ext cx="9144000" cy="4346712"/>
          </a:xfrm>
        </p:spPr>
        <p:txBody>
          <a:bodyPr>
            <a:normAutofit fontScale="55000" lnSpcReduction="20000"/>
          </a:bodyPr>
          <a:lstStyle/>
          <a:p>
            <a:pPr>
              <a:lnSpc>
                <a:spcPct val="150000"/>
              </a:lnSpc>
            </a:pPr>
            <a:r>
              <a:rPr lang="en-US" sz="4000" dirty="0">
                <a:latin typeface="Times New Roman" panose="02020603050405020304" pitchFamily="18" charset="0"/>
                <a:cs typeface="Times New Roman" panose="02020603050405020304" pitchFamily="18" charset="0"/>
              </a:rPr>
              <a:t>Submitted in partial fulfillment of the requirements for the award of the degree of</a:t>
            </a:r>
            <a:br>
              <a:rPr lang="en-US" sz="4000"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Master of Business Administration (MBA)                                         </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 By</a:t>
            </a:r>
          </a:p>
          <a:p>
            <a:pPr>
              <a:lnSpc>
                <a:spcPct val="150000"/>
              </a:lnSpc>
            </a:pPr>
            <a:r>
              <a:rPr lang="en-US" sz="4000" dirty="0">
                <a:latin typeface="Times New Roman" panose="02020603050405020304" pitchFamily="18" charset="0"/>
                <a:cs typeface="Times New Roman" panose="02020603050405020304" pitchFamily="18" charset="0"/>
              </a:rPr>
              <a:t>Student Name: </a:t>
            </a:r>
            <a:r>
              <a:rPr lang="en-US" sz="4000" b="1" dirty="0" err="1">
                <a:latin typeface="Times New Roman" panose="02020603050405020304" pitchFamily="18" charset="0"/>
                <a:cs typeface="Times New Roman" panose="02020603050405020304" pitchFamily="18" charset="0"/>
              </a:rPr>
              <a:t>Ashu</a:t>
            </a:r>
            <a:r>
              <a:rPr lang="en-US" sz="4000" b="1" dirty="0">
                <a:latin typeface="Times New Roman" panose="02020603050405020304" pitchFamily="18" charset="0"/>
                <a:cs typeface="Times New Roman" panose="02020603050405020304" pitchFamily="18" charset="0"/>
              </a:rPr>
              <a:t> Jain</a:t>
            </a:r>
            <a:endParaRPr lang="en-US" sz="4000" dirty="0">
              <a:latin typeface="Times New Roman" panose="02020603050405020304" pitchFamily="18" charset="0"/>
              <a:cs typeface="Times New Roman" panose="02020603050405020304" pitchFamily="18" charset="0"/>
            </a:endParaRPr>
          </a:p>
          <a:p>
            <a:pPr>
              <a:lnSpc>
                <a:spcPct val="150000"/>
              </a:lnSpc>
            </a:pPr>
            <a:r>
              <a:rPr lang="en-US" sz="4000" dirty="0">
                <a:latin typeface="Times New Roman" panose="02020603050405020304" pitchFamily="18" charset="0"/>
                <a:cs typeface="Times New Roman" panose="02020603050405020304" pitchFamily="18" charset="0"/>
              </a:rPr>
              <a:t>Enrollment No: </a:t>
            </a:r>
            <a:r>
              <a:rPr lang="en-US" sz="4000" b="1" dirty="0">
                <a:latin typeface="Times New Roman" panose="02020603050405020304" pitchFamily="18" charset="0"/>
                <a:cs typeface="Times New Roman" panose="02020603050405020304" pitchFamily="18" charset="0"/>
              </a:rPr>
              <a:t>O24MBA113360</a:t>
            </a:r>
            <a:endParaRPr lang="en-US" sz="4000" dirty="0">
              <a:latin typeface="Times New Roman" panose="02020603050405020304" pitchFamily="18" charset="0"/>
              <a:cs typeface="Times New Roman" panose="02020603050405020304" pitchFamily="18" charset="0"/>
            </a:endParaRPr>
          </a:p>
          <a:p>
            <a:pPr>
              <a:lnSpc>
                <a:spcPct val="150000"/>
              </a:lnSpc>
            </a:pPr>
            <a:r>
              <a:rPr lang="en-US" sz="4000" dirty="0">
                <a:latin typeface="Times New Roman" panose="02020603050405020304" pitchFamily="18" charset="0"/>
                <a:cs typeface="Times New Roman" panose="02020603050405020304" pitchFamily="18" charset="0"/>
              </a:rPr>
              <a:t>Under the guidance of</a:t>
            </a:r>
          </a:p>
          <a:p>
            <a:pPr>
              <a:lnSpc>
                <a:spcPct val="150000"/>
              </a:lnSpc>
            </a:pPr>
            <a:r>
              <a:rPr lang="en-US" sz="4000" dirty="0">
                <a:latin typeface="Times New Roman" panose="02020603050405020304" pitchFamily="18" charset="0"/>
                <a:cs typeface="Times New Roman" panose="02020603050405020304" pitchFamily="18" charset="0"/>
              </a:rPr>
              <a:t>Guide/Mentor Name: </a:t>
            </a:r>
            <a:r>
              <a:rPr lang="en-IN" sz="4000" b="1" dirty="0" err="1">
                <a:latin typeface="Times New Roman" panose="02020603050405020304" pitchFamily="18" charset="0"/>
                <a:cs typeface="Times New Roman" panose="02020603050405020304" pitchFamily="18" charset="0"/>
              </a:rPr>
              <a:t>Suruchi</a:t>
            </a:r>
            <a:r>
              <a:rPr lang="en-IN" sz="4000" b="1" dirty="0">
                <a:latin typeface="Times New Roman" panose="02020603050405020304" pitchFamily="18" charset="0"/>
                <a:cs typeface="Times New Roman" panose="02020603050405020304" pitchFamily="18" charset="0"/>
              </a:rPr>
              <a:t> Gupta</a:t>
            </a:r>
          </a:p>
          <a:p>
            <a:pPr>
              <a:lnSpc>
                <a:spcPct val="150000"/>
              </a:lnSpc>
            </a:pPr>
            <a:endParaRPr lang="en-US" sz="4000" dirty="0">
              <a:latin typeface="Times New Roman" panose="02020603050405020304" pitchFamily="18" charset="0"/>
              <a:cs typeface="Times New Roman" panose="02020603050405020304" pitchFamily="18" charset="0"/>
            </a:endParaRPr>
          </a:p>
          <a:p>
            <a:endParaRPr lang="en-US" dirty="0"/>
          </a:p>
        </p:txBody>
      </p:sp>
      <p:pic>
        <p:nvPicPr>
          <p:cNvPr id="5" name="Picture 2" descr="Online MCA Course - Master of Computer ...">
            <a:extLst>
              <a:ext uri="{FF2B5EF4-FFF2-40B4-BE49-F238E27FC236}">
                <a16:creationId xmlns:a16="http://schemas.microsoft.com/office/drawing/2014/main" id="{6F768FF3-91E6-4771-8EA4-F7587B3C7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090" y="28464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10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C2A6-7FC2-4E86-BDFD-D532C76BA3D4}"/>
              </a:ext>
            </a:extLst>
          </p:cNvPr>
          <p:cNvSpPr>
            <a:spLocks noGrp="1"/>
          </p:cNvSpPr>
          <p:nvPr>
            <p:ph type="title"/>
          </p:nvPr>
        </p:nvSpPr>
        <p:spPr/>
        <p:txBody>
          <a:bodyPr>
            <a:normAutofit/>
          </a:bodyPr>
          <a:lstStyle/>
          <a:p>
            <a:r>
              <a:rPr lang="en-US" sz="2500" b="1" dirty="0">
                <a:latin typeface="Times New Roman" panose="02020603050405020304" pitchFamily="18" charset="0"/>
                <a:cs typeface="Times New Roman" panose="02020603050405020304" pitchFamily="18" charset="0"/>
              </a:rPr>
              <a:t>                                             </a:t>
            </a:r>
            <a:br>
              <a:rPr lang="en-US" sz="2500" b="1" dirty="0">
                <a:latin typeface="Times New Roman" panose="02020603050405020304" pitchFamily="18" charset="0"/>
                <a:cs typeface="Times New Roman" panose="02020603050405020304" pitchFamily="18" charset="0"/>
              </a:rPr>
            </a:br>
            <a:r>
              <a:rPr lang="en-US" sz="2500" b="1" dirty="0">
                <a:latin typeface="Times New Roman" panose="02020603050405020304" pitchFamily="18" charset="0"/>
                <a:cs typeface="Times New Roman" panose="02020603050405020304" pitchFamily="18" charset="0"/>
              </a:rPr>
              <a:t>                                        </a:t>
            </a:r>
            <a:r>
              <a:rPr lang="en-US" sz="2500" b="1" u="sng" dirty="0">
                <a:latin typeface="Times New Roman" panose="02020603050405020304" pitchFamily="18" charset="0"/>
                <a:cs typeface="Times New Roman" panose="02020603050405020304" pitchFamily="18" charset="0"/>
              </a:rPr>
              <a:t>Abstract / Executive Summary</a:t>
            </a:r>
            <a:endParaRPr lang="en-US" sz="2500" u="sng" dirty="0"/>
          </a:p>
        </p:txBody>
      </p:sp>
      <p:sp>
        <p:nvSpPr>
          <p:cNvPr id="3" name="Content Placeholder 2">
            <a:extLst>
              <a:ext uri="{FF2B5EF4-FFF2-40B4-BE49-F238E27FC236}">
                <a16:creationId xmlns:a16="http://schemas.microsoft.com/office/drawing/2014/main" id="{1F653A8F-DD5B-4DE0-AB26-3E0F4E62EB8C}"/>
              </a:ext>
            </a:extLst>
          </p:cNvPr>
          <p:cNvSpPr>
            <a:spLocks noGrp="1"/>
          </p:cNvSpPr>
          <p:nvPr>
            <p:ph idx="1"/>
          </p:nvPr>
        </p:nvSpPr>
        <p:spPr>
          <a:xfrm>
            <a:off x="838200" y="1825625"/>
            <a:ext cx="10515600" cy="4495662"/>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Topic of the Study</a:t>
            </a:r>
          </a:p>
          <a:p>
            <a:pPr marL="0" indent="0">
              <a:buNone/>
            </a:pPr>
            <a:r>
              <a:rPr lang="en-US" dirty="0"/>
              <a:t>The study focuses on </a:t>
            </a:r>
            <a:r>
              <a:rPr lang="en-US" b="1" dirty="0"/>
              <a:t>“AI-Based Recruitment and Resume Screening Application”</a:t>
            </a:r>
            <a:r>
              <a:rPr lang="en-US" dirty="0"/>
              <a:t>, which explores how Artificial Intelligence can transform traditional recruitment processes by automating resume screening, improving efficiency, and reducing human bias. </a:t>
            </a:r>
          </a:p>
          <a:p>
            <a:endParaRPr lang="en-US" dirty="0"/>
          </a:p>
          <a:p>
            <a:pPr marL="0" indent="0">
              <a:buNone/>
            </a:pPr>
            <a:r>
              <a:rPr lang="en-US" b="1" dirty="0">
                <a:latin typeface="Times New Roman" panose="02020603050405020304" pitchFamily="18" charset="0"/>
                <a:cs typeface="Times New Roman" panose="02020603050405020304" pitchFamily="18" charset="0"/>
              </a:rPr>
              <a:t>Objective</a:t>
            </a:r>
          </a:p>
          <a:p>
            <a:pPr>
              <a:buFont typeface="Wingdings" panose="05000000000000000000" pitchFamily="2" charset="2"/>
              <a:buChar char="q"/>
            </a:pPr>
            <a:r>
              <a:rPr lang="en-US" dirty="0"/>
              <a:t>To design and analyze an AI-based system for resume screening </a:t>
            </a:r>
          </a:p>
          <a:p>
            <a:pPr>
              <a:buFont typeface="Wingdings" panose="05000000000000000000" pitchFamily="2" charset="2"/>
              <a:buChar char="q"/>
            </a:pPr>
            <a:r>
              <a:rPr lang="en-US" dirty="0"/>
              <a:t>To improve recruitment efficiency and reduce hiring time </a:t>
            </a:r>
          </a:p>
          <a:p>
            <a:pPr>
              <a:buFont typeface="Wingdings" panose="05000000000000000000" pitchFamily="2" charset="2"/>
              <a:buChar char="q"/>
            </a:pPr>
            <a:r>
              <a:rPr lang="en-US" dirty="0"/>
              <a:t>To minimize manual effort and human bias in selection </a:t>
            </a:r>
          </a:p>
          <a:p>
            <a:pPr>
              <a:buFont typeface="Wingdings" panose="05000000000000000000" pitchFamily="2" charset="2"/>
              <a:buChar char="q"/>
            </a:pPr>
            <a:r>
              <a:rPr lang="en-US" dirty="0"/>
              <a:t>To enhance accuracy in candidate-job matching </a:t>
            </a:r>
          </a:p>
          <a:p>
            <a:pPr>
              <a:buFont typeface="Wingdings" panose="05000000000000000000" pitchFamily="2" charset="2"/>
              <a:buChar char="q"/>
            </a:pPr>
            <a:r>
              <a:rPr lang="en-US" dirty="0"/>
              <a:t>To evaluate the impact of AI on modern HR practices </a:t>
            </a:r>
          </a:p>
          <a:p>
            <a:endParaRPr lang="en-US" dirty="0"/>
          </a:p>
        </p:txBody>
      </p:sp>
      <p:pic>
        <p:nvPicPr>
          <p:cNvPr id="6" name="Picture 2" descr="Online MCA Course - Master of Computer ...">
            <a:extLst>
              <a:ext uri="{FF2B5EF4-FFF2-40B4-BE49-F238E27FC236}">
                <a16:creationId xmlns:a16="http://schemas.microsoft.com/office/drawing/2014/main" id="{AB4EF848-B52E-423A-9208-8681A2DEE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090" y="28464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359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Online MCA Course - Master of Computer ...">
            <a:extLst>
              <a:ext uri="{FF2B5EF4-FFF2-40B4-BE49-F238E27FC236}">
                <a16:creationId xmlns:a16="http://schemas.microsoft.com/office/drawing/2014/main" id="{3083EF97-8806-4B77-833D-55A775C53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0342" y="275672"/>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EADB6DD-DDED-4C6E-93BF-BB596C177A31}"/>
              </a:ext>
            </a:extLst>
          </p:cNvPr>
          <p:cNvSpPr/>
          <p:nvPr/>
        </p:nvSpPr>
        <p:spPr>
          <a:xfrm>
            <a:off x="1033669" y="1033670"/>
            <a:ext cx="10416209" cy="5262979"/>
          </a:xfrm>
          <a:prstGeom prst="rect">
            <a:avLst/>
          </a:prstGeom>
        </p:spPr>
        <p:txBody>
          <a:bodyPr wrap="square">
            <a:spAutoFit/>
          </a:bodyPr>
          <a:lstStyle/>
          <a:p>
            <a:endParaRPr lang="en-US"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Methodology</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b="1" dirty="0"/>
              <a:t>Primary Data:</a:t>
            </a:r>
            <a:r>
              <a:rPr lang="en-US" sz="2000" dirty="0"/>
              <a:t> Collected through questionnaires from HR professionals, recruiters, and job seekers </a:t>
            </a:r>
          </a:p>
          <a:p>
            <a:pPr marL="285750" indent="-285750">
              <a:buFont typeface="Wingdings" panose="05000000000000000000" pitchFamily="2" charset="2"/>
              <a:buChar char="q"/>
            </a:pPr>
            <a:r>
              <a:rPr lang="en-US" sz="2000" b="1" dirty="0"/>
              <a:t>Secondary Data:</a:t>
            </a:r>
            <a:r>
              <a:rPr lang="en-US" sz="2000" dirty="0"/>
              <a:t> Gathered from journals, research papers, books, and industry reports </a:t>
            </a:r>
          </a:p>
          <a:p>
            <a:pPr marL="285750" indent="-285750">
              <a:buFont typeface="Wingdings" panose="05000000000000000000" pitchFamily="2" charset="2"/>
              <a:buChar char="q"/>
            </a:pPr>
            <a:r>
              <a:rPr lang="en-US" sz="2000" b="1" dirty="0"/>
              <a:t>Analysis Tools:</a:t>
            </a:r>
            <a:r>
              <a:rPr lang="en-US" sz="2000" dirty="0"/>
              <a:t> Percentage analysis, tables, bar charts, and pie charts </a:t>
            </a:r>
          </a:p>
          <a:p>
            <a:pPr marL="285750" indent="-285750">
              <a:buFont typeface="Wingdings" panose="05000000000000000000" pitchFamily="2" charset="2"/>
              <a:buChar char="q"/>
            </a:pPr>
            <a:r>
              <a:rPr lang="en-US" sz="2000" b="1" dirty="0"/>
              <a:t>Technical Approach:</a:t>
            </a:r>
            <a:r>
              <a:rPr lang="en-US" sz="2000" dirty="0"/>
              <a:t> Use of AI technologies such as Machine Learning (ML) and Natural Language Processing (NLP) for resume screening</a:t>
            </a:r>
          </a:p>
          <a:p>
            <a:endParaRPr lang="en-US" sz="2000" dirty="0"/>
          </a:p>
          <a:p>
            <a:endParaRPr lang="en-US" sz="2000" dirty="0"/>
          </a:p>
          <a:p>
            <a:r>
              <a:rPr lang="en-US" sz="2000" b="1" dirty="0">
                <a:latin typeface="Times New Roman" panose="02020603050405020304" pitchFamily="18" charset="0"/>
                <a:cs typeface="Times New Roman" panose="02020603050405020304" pitchFamily="18" charset="0"/>
              </a:rPr>
              <a:t>Key Findings</a:t>
            </a:r>
          </a:p>
          <a:p>
            <a:pPr marL="285750" indent="-285750">
              <a:buFont typeface="Wingdings" panose="05000000000000000000" pitchFamily="2" charset="2"/>
              <a:buChar char="q"/>
            </a:pPr>
            <a:r>
              <a:rPr lang="en-US" sz="2000" dirty="0"/>
              <a:t>Majority of respondents are aware of AI in recruitment </a:t>
            </a:r>
          </a:p>
          <a:p>
            <a:pPr marL="285750" indent="-285750">
              <a:buFont typeface="Wingdings" panose="05000000000000000000" pitchFamily="2" charset="2"/>
              <a:buChar char="q"/>
            </a:pPr>
            <a:r>
              <a:rPr lang="en-US" sz="2000" dirty="0"/>
              <a:t>AI significantly improves efficiency and reduces hiring time </a:t>
            </a:r>
          </a:p>
          <a:p>
            <a:pPr marL="285750" indent="-285750">
              <a:buFont typeface="Wingdings" panose="05000000000000000000" pitchFamily="2" charset="2"/>
              <a:buChar char="q"/>
            </a:pPr>
            <a:r>
              <a:rPr lang="en-US" sz="2000" dirty="0"/>
              <a:t>Resume screening and candidate matching are the most valuable features </a:t>
            </a:r>
          </a:p>
          <a:p>
            <a:pPr marL="285750" indent="-285750">
              <a:buFont typeface="Wingdings" panose="05000000000000000000" pitchFamily="2" charset="2"/>
              <a:buChar char="q"/>
            </a:pPr>
            <a:r>
              <a:rPr lang="en-US" sz="2000" dirty="0"/>
              <a:t>Traditional recruitment is time-consuming and prone to bias </a:t>
            </a:r>
          </a:p>
          <a:p>
            <a:pPr marL="285750" indent="-285750">
              <a:buFont typeface="Wingdings" panose="05000000000000000000" pitchFamily="2" charset="2"/>
              <a:buChar char="q"/>
            </a:pPr>
            <a:r>
              <a:rPr lang="en-US" sz="2000" dirty="0"/>
              <a:t>Concerns remain regarding data privacy, transparency, and algorithmic bias</a:t>
            </a:r>
          </a:p>
          <a:p>
            <a:endParaRPr lang="en-US" dirty="0"/>
          </a:p>
        </p:txBody>
      </p:sp>
    </p:spTree>
    <p:extLst>
      <p:ext uri="{BB962C8B-B14F-4D97-AF65-F5344CB8AC3E}">
        <p14:creationId xmlns:p14="http://schemas.microsoft.com/office/powerpoint/2010/main" val="1311257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F0E0A7-8CFD-4262-84AC-42CDCC33D2E2}"/>
              </a:ext>
            </a:extLst>
          </p:cNvPr>
          <p:cNvSpPr/>
          <p:nvPr/>
        </p:nvSpPr>
        <p:spPr>
          <a:xfrm>
            <a:off x="5377373" y="3244334"/>
            <a:ext cx="3090766" cy="923330"/>
          </a:xfrm>
          <a:prstGeom prst="rect">
            <a:avLst/>
          </a:prstGeom>
        </p:spPr>
        <p:txBody>
          <a:bodyPr wrap="square">
            <a:spAutoFit/>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p>
        </p:txBody>
      </p:sp>
      <p:sp>
        <p:nvSpPr>
          <p:cNvPr id="3" name="Rectangle 2">
            <a:extLst>
              <a:ext uri="{FF2B5EF4-FFF2-40B4-BE49-F238E27FC236}">
                <a16:creationId xmlns:a16="http://schemas.microsoft.com/office/drawing/2014/main" id="{184CFA3B-163A-4B54-B643-948144CAEB1E}"/>
              </a:ext>
            </a:extLst>
          </p:cNvPr>
          <p:cNvSpPr/>
          <p:nvPr/>
        </p:nvSpPr>
        <p:spPr>
          <a:xfrm>
            <a:off x="1113183" y="856002"/>
            <a:ext cx="10336694" cy="5755422"/>
          </a:xfrm>
          <a:prstGeom prst="rect">
            <a:avLst/>
          </a:prstGeom>
        </p:spPr>
        <p:txBody>
          <a:bodyPr wrap="square">
            <a:spAutoFit/>
          </a:bodyPr>
          <a:lstStyle/>
          <a:p>
            <a:endParaRPr lang="en-US"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Introduction</a:t>
            </a:r>
          </a:p>
          <a:p>
            <a:endParaRPr lang="en-US" b="1" dirty="0">
              <a:latin typeface="Times New Roman" panose="02020603050405020304" pitchFamily="18" charset="0"/>
              <a:cs typeface="Times New Roman" panose="02020603050405020304" pitchFamily="18" charset="0"/>
            </a:endParaRPr>
          </a:p>
          <a:p>
            <a:r>
              <a:rPr lang="en-US" b="1" dirty="0"/>
              <a:t>Background of Study</a:t>
            </a:r>
          </a:p>
          <a:p>
            <a:r>
              <a:rPr lang="en-US" dirty="0"/>
              <a:t>In the digital era, organizations are increasingly adopting advanced technologies to improve efficiency. Recruitment, being a critical HR function, often faces challenges such as time-consuming manual screening, human errors, and bias. With the rise of Artificial Intelligence (AI), Machine Learning (ML), and Natural Language Processing (NLP), companies can automate resume screening, enhance accuracy, and make fair hiring decisions. This study focuses on leveraging AI to improve the recruitment process and overcome limitations of traditional methods.</a:t>
            </a:r>
          </a:p>
          <a:p>
            <a:endParaRPr lang="en-US" b="1" dirty="0"/>
          </a:p>
          <a:p>
            <a:endParaRPr lang="en-US" b="1" dirty="0"/>
          </a:p>
          <a:p>
            <a:r>
              <a:rPr lang="en-US" b="1" dirty="0"/>
              <a:t>Industry Profile</a:t>
            </a:r>
          </a:p>
          <a:p>
            <a:r>
              <a:rPr lang="en-US" dirty="0"/>
              <a:t>The recruitment industry has evolved from traditional manual hiring to online platforms and now to AI-driven systems. Modern hiring relies on job portals, Applicant Tracking Systems (ATS), chatbots, and predictive analytics. AI has significantly improved hiring speed, candidate matching, and decision-making. However, challenges such as data privacy, transparency, and algorithmic bias still exist, creating a need for reliable and ethical AI-based recruitment solutions.</a:t>
            </a:r>
          </a:p>
          <a:p>
            <a:endParaRPr lang="en-US" dirty="0"/>
          </a:p>
          <a:p>
            <a:endParaRPr lang="en-US" dirty="0"/>
          </a:p>
        </p:txBody>
      </p:sp>
      <p:pic>
        <p:nvPicPr>
          <p:cNvPr id="4" name="Picture 2" descr="Online MCA Course - Master of Computer ...">
            <a:extLst>
              <a:ext uri="{FF2B5EF4-FFF2-40B4-BE49-F238E27FC236}">
                <a16:creationId xmlns:a16="http://schemas.microsoft.com/office/drawing/2014/main" id="{C0355420-FAF5-4FDE-A50F-125CF267C8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090" y="28464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249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Online MCA Course - Master of Computer ...">
            <a:extLst>
              <a:ext uri="{FF2B5EF4-FFF2-40B4-BE49-F238E27FC236}">
                <a16:creationId xmlns:a16="http://schemas.microsoft.com/office/drawing/2014/main" id="{0DAB0F14-270A-41D1-8ACE-CD1FE0F1C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090" y="28464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E8960EC-86E6-4D5A-A9B0-7E4D48B1A276}"/>
              </a:ext>
            </a:extLst>
          </p:cNvPr>
          <p:cNvSpPr/>
          <p:nvPr/>
        </p:nvSpPr>
        <p:spPr>
          <a:xfrm>
            <a:off x="1205948" y="993913"/>
            <a:ext cx="10363200" cy="4801314"/>
          </a:xfrm>
          <a:prstGeom prst="rect">
            <a:avLst/>
          </a:prstGeom>
        </p:spPr>
        <p:txBody>
          <a:bodyPr wrap="square">
            <a:spAutoFit/>
          </a:bodyPr>
          <a:lstStyle/>
          <a:p>
            <a:endParaRPr lang="en-US" b="1" dirty="0"/>
          </a:p>
          <a:p>
            <a:r>
              <a:rPr lang="en-US" b="1" dirty="0"/>
              <a:t>Company Profile</a:t>
            </a:r>
          </a:p>
          <a:p>
            <a:r>
              <a:rPr lang="en-US" dirty="0"/>
              <a:t>The company is a forward-looking organization focused on adopting digital technologies to improve operational efficiency. With a growing number of applicants, it faces challenges in managing recruitment effectively. To overcome this, the company aims to implement AI-based solutions for resume screening and candidate selection, aligning with its goal of increasing productivity, reducing costs, and improving decision-making.</a:t>
            </a:r>
          </a:p>
          <a:p>
            <a:endParaRPr lang="en-US" dirty="0"/>
          </a:p>
          <a:p>
            <a:endParaRPr lang="en-US" dirty="0"/>
          </a:p>
          <a:p>
            <a:r>
              <a:rPr lang="en-US" b="1" dirty="0"/>
              <a:t>Problem Statement</a:t>
            </a:r>
          </a:p>
          <a:p>
            <a:r>
              <a:rPr lang="en-US" dirty="0"/>
              <a:t>Traditional recruitment methods are slow, inefficient, and prone to human bias. HR professionals spend excessive time screening resumes manually, which may lead to errors and missed qualified candidates. Additionally, handling large volumes of applications and inconsistent resume formats makes it difficult to identify the best candidates. This creates a need for an automated, accurate, and unbiased recruitment system. </a:t>
            </a:r>
          </a:p>
          <a:p>
            <a:endParaRPr lang="en-US" dirty="0"/>
          </a:p>
          <a:p>
            <a:endParaRPr lang="en-US" dirty="0"/>
          </a:p>
        </p:txBody>
      </p:sp>
    </p:spTree>
    <p:extLst>
      <p:ext uri="{BB962C8B-B14F-4D97-AF65-F5344CB8AC3E}">
        <p14:creationId xmlns:p14="http://schemas.microsoft.com/office/powerpoint/2010/main" val="2781462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Online MCA Course - Master of Computer ...">
            <a:extLst>
              <a:ext uri="{FF2B5EF4-FFF2-40B4-BE49-F238E27FC236}">
                <a16:creationId xmlns:a16="http://schemas.microsoft.com/office/drawing/2014/main" id="{CD038002-7D9D-4A25-BE08-816345666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090" y="28464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C905A36-D9F8-4A91-B134-FC9A056C255A}"/>
              </a:ext>
            </a:extLst>
          </p:cNvPr>
          <p:cNvSpPr/>
          <p:nvPr/>
        </p:nvSpPr>
        <p:spPr>
          <a:xfrm>
            <a:off x="993913" y="1192696"/>
            <a:ext cx="10270435" cy="3970318"/>
          </a:xfrm>
          <a:prstGeom prst="rect">
            <a:avLst/>
          </a:prstGeom>
        </p:spPr>
        <p:txBody>
          <a:bodyPr wrap="square">
            <a:spAutoFit/>
          </a:bodyPr>
          <a:lstStyle/>
          <a:p>
            <a:r>
              <a:rPr lang="en-US" b="1" dirty="0"/>
              <a:t>Need &amp; Objectives of Study</a:t>
            </a:r>
          </a:p>
          <a:p>
            <a:endParaRPr lang="en-US" b="1" dirty="0"/>
          </a:p>
          <a:p>
            <a:r>
              <a:rPr lang="en-US" b="1" dirty="0"/>
              <a:t>Need of Study:</a:t>
            </a:r>
            <a:endParaRPr lang="en-US" dirty="0"/>
          </a:p>
          <a:p>
            <a:pPr marL="285750" indent="-285750">
              <a:buFont typeface="Wingdings" panose="05000000000000000000" pitchFamily="2" charset="2"/>
              <a:buChar char="q"/>
            </a:pPr>
            <a:r>
              <a:rPr lang="en-US" dirty="0"/>
              <a:t>To address inefficiencies and bias in traditional recruitment </a:t>
            </a:r>
          </a:p>
          <a:p>
            <a:pPr marL="285750" indent="-285750">
              <a:buFont typeface="Wingdings" panose="05000000000000000000" pitchFamily="2" charset="2"/>
              <a:buChar char="q"/>
            </a:pPr>
            <a:r>
              <a:rPr lang="en-US" dirty="0"/>
              <a:t>To handle large volumes of job applications effectively </a:t>
            </a:r>
          </a:p>
          <a:p>
            <a:pPr marL="285750" indent="-285750">
              <a:buFont typeface="Wingdings" panose="05000000000000000000" pitchFamily="2" charset="2"/>
              <a:buChar char="q"/>
            </a:pPr>
            <a:r>
              <a:rPr lang="en-US" dirty="0"/>
              <a:t>To improve transparency and fairness in hiring decisions </a:t>
            </a:r>
          </a:p>
          <a:p>
            <a:endParaRPr lang="en-US" b="1" dirty="0"/>
          </a:p>
          <a:p>
            <a:endParaRPr lang="en-US" b="1" dirty="0"/>
          </a:p>
          <a:p>
            <a:r>
              <a:rPr lang="en-US" b="1" dirty="0"/>
              <a:t>Objectives of Study:</a:t>
            </a:r>
            <a:endParaRPr lang="en-US" dirty="0"/>
          </a:p>
          <a:p>
            <a:pPr marL="285750" indent="-285750">
              <a:buFont typeface="Wingdings" panose="05000000000000000000" pitchFamily="2" charset="2"/>
              <a:buChar char="q"/>
            </a:pPr>
            <a:r>
              <a:rPr lang="en-US" dirty="0"/>
              <a:t>To understand limitations of traditional recruitment methods </a:t>
            </a:r>
          </a:p>
          <a:p>
            <a:pPr marL="285750" indent="-285750">
              <a:buFont typeface="Wingdings" panose="05000000000000000000" pitchFamily="2" charset="2"/>
              <a:buChar char="q"/>
            </a:pPr>
            <a:r>
              <a:rPr lang="en-US" dirty="0"/>
              <a:t>To explore the role of AI in resume screening </a:t>
            </a:r>
          </a:p>
          <a:p>
            <a:pPr marL="285750" indent="-285750">
              <a:buFont typeface="Wingdings" panose="05000000000000000000" pitchFamily="2" charset="2"/>
              <a:buChar char="q"/>
            </a:pPr>
            <a:r>
              <a:rPr lang="en-US" dirty="0"/>
              <a:t>To design and evaluate an AI-based recruitment system </a:t>
            </a:r>
          </a:p>
          <a:p>
            <a:pPr marL="285750" indent="-285750">
              <a:buFont typeface="Wingdings" panose="05000000000000000000" pitchFamily="2" charset="2"/>
              <a:buChar char="q"/>
            </a:pPr>
            <a:r>
              <a:rPr lang="en-US" dirty="0"/>
              <a:t>To improve efficiency, accuracy, and fairness in hiring </a:t>
            </a:r>
          </a:p>
          <a:p>
            <a:pPr marL="285750" indent="-285750">
              <a:buFont typeface="Wingdings" panose="05000000000000000000" pitchFamily="2" charset="2"/>
              <a:buChar char="q"/>
            </a:pPr>
            <a:r>
              <a:rPr lang="en-US" dirty="0"/>
              <a:t>To provide recommendations for better implementation of AI in HR</a:t>
            </a:r>
          </a:p>
        </p:txBody>
      </p:sp>
    </p:spTree>
    <p:extLst>
      <p:ext uri="{BB962C8B-B14F-4D97-AF65-F5344CB8AC3E}">
        <p14:creationId xmlns:p14="http://schemas.microsoft.com/office/powerpoint/2010/main" val="1086423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6CA716-5586-482F-AD3E-446EEB5F563E}"/>
              </a:ext>
            </a:extLst>
          </p:cNvPr>
          <p:cNvSpPr/>
          <p:nvPr/>
        </p:nvSpPr>
        <p:spPr>
          <a:xfrm>
            <a:off x="600501" y="847030"/>
            <a:ext cx="10590664" cy="603242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Literature Review</a:t>
            </a:r>
          </a:p>
          <a:p>
            <a:r>
              <a:rPr lang="en-US" b="1" dirty="0"/>
              <a:t>Theoretical Framework</a:t>
            </a:r>
          </a:p>
          <a:p>
            <a:pPr marL="285750" indent="-285750">
              <a:buFont typeface="Wingdings" panose="05000000000000000000" pitchFamily="2" charset="2"/>
              <a:buChar char="q"/>
            </a:pPr>
            <a:r>
              <a:rPr lang="en-US" dirty="0"/>
              <a:t>Recruitment &amp; Selection Theory focuses on matching candidate skills with job requirements </a:t>
            </a:r>
          </a:p>
          <a:p>
            <a:pPr marL="285750" indent="-285750">
              <a:buFont typeface="Wingdings" panose="05000000000000000000" pitchFamily="2" charset="2"/>
              <a:buChar char="q"/>
            </a:pPr>
            <a:r>
              <a:rPr lang="en-US" dirty="0"/>
              <a:t>Traditional recruitment is manual, time-consuming, and prone to bias </a:t>
            </a:r>
          </a:p>
          <a:p>
            <a:pPr marL="285750" indent="-285750">
              <a:buFont typeface="Wingdings" panose="05000000000000000000" pitchFamily="2" charset="2"/>
              <a:buChar char="q"/>
            </a:pPr>
            <a:r>
              <a:rPr lang="en-US" dirty="0"/>
              <a:t>Artificial Intelligence (AI) enhances HR functions by automating screening and improving decisions </a:t>
            </a:r>
          </a:p>
          <a:p>
            <a:pPr marL="285750" indent="-285750">
              <a:buFont typeface="Wingdings" panose="05000000000000000000" pitchFamily="2" charset="2"/>
              <a:buChar char="q"/>
            </a:pPr>
            <a:r>
              <a:rPr lang="en-US" dirty="0"/>
              <a:t>Machine Learning (ML) helps in resume classification, prediction, and candidate ranking </a:t>
            </a:r>
          </a:p>
          <a:p>
            <a:pPr marL="285750" indent="-285750">
              <a:buFont typeface="Wingdings" panose="05000000000000000000" pitchFamily="2" charset="2"/>
              <a:buChar char="q"/>
            </a:pPr>
            <a:r>
              <a:rPr lang="en-US" dirty="0"/>
              <a:t>Predictive Analytics forecasts candidate suitability based on past data </a:t>
            </a:r>
          </a:p>
          <a:p>
            <a:pPr marL="285750" indent="-285750">
              <a:buFont typeface="Wingdings" panose="05000000000000000000" pitchFamily="2" charset="2"/>
              <a:buChar char="q"/>
            </a:pPr>
            <a:r>
              <a:rPr lang="en-US" dirty="0"/>
              <a:t>Natural Language Processing (NLP) extracts key information from resumes (skills, experience, education) </a:t>
            </a:r>
          </a:p>
          <a:p>
            <a:pPr marL="285750" indent="-285750">
              <a:buFont typeface="Wingdings" panose="05000000000000000000" pitchFamily="2" charset="2"/>
              <a:buChar char="q"/>
            </a:pPr>
            <a:r>
              <a:rPr lang="en-US" dirty="0"/>
              <a:t>Applicant Tracking Systems (ATS) automate resume parsing, filtering, and tracking </a:t>
            </a:r>
          </a:p>
          <a:p>
            <a:pPr marL="285750" indent="-285750">
              <a:buFont typeface="Wingdings" panose="05000000000000000000" pitchFamily="2" charset="2"/>
              <a:buChar char="q"/>
            </a:pPr>
            <a:r>
              <a:rPr lang="en-US" dirty="0"/>
              <a:t>AI improves efficiency but raises concerns related to bias, ethics, and data privacy</a:t>
            </a:r>
          </a:p>
          <a:p>
            <a:pPr marL="285750" indent="-285750">
              <a:buFont typeface="Wingdings" panose="05000000000000000000" pitchFamily="2" charset="2"/>
              <a:buChar char="q"/>
            </a:pPr>
            <a:endParaRPr lang="en-US" dirty="0"/>
          </a:p>
          <a:p>
            <a:r>
              <a:rPr lang="en-US" b="1" dirty="0"/>
              <a:t>Review of Previous Studies</a:t>
            </a:r>
          </a:p>
          <a:p>
            <a:pPr marL="285750" indent="-285750">
              <a:buFont typeface="Wingdings" panose="05000000000000000000" pitchFamily="2" charset="2"/>
              <a:buChar char="q"/>
            </a:pPr>
            <a:r>
              <a:rPr lang="en-US" dirty="0"/>
              <a:t>Studies show AI reduces hiring time and improves recruitment efficiency </a:t>
            </a:r>
          </a:p>
          <a:p>
            <a:pPr marL="285750" indent="-285750">
              <a:buFont typeface="Wingdings" panose="05000000000000000000" pitchFamily="2" charset="2"/>
              <a:buChar char="q"/>
            </a:pPr>
            <a:r>
              <a:rPr lang="en-US" dirty="0"/>
              <a:t>ML-based models increase accuracy in candidate selection </a:t>
            </a:r>
          </a:p>
          <a:p>
            <a:pPr marL="285750" indent="-285750">
              <a:buFont typeface="Wingdings" panose="05000000000000000000" pitchFamily="2" charset="2"/>
              <a:buChar char="q"/>
            </a:pPr>
            <a:r>
              <a:rPr lang="en-US" dirty="0"/>
              <a:t>NLP improves resume parsing and data extraction </a:t>
            </a:r>
          </a:p>
          <a:p>
            <a:pPr marL="285750" indent="-285750">
              <a:buFont typeface="Wingdings" panose="05000000000000000000" pitchFamily="2" charset="2"/>
              <a:buChar char="q"/>
            </a:pPr>
            <a:r>
              <a:rPr lang="en-US" dirty="0"/>
              <a:t>AI tools enhance quality of hiring and reduce costs </a:t>
            </a:r>
          </a:p>
          <a:p>
            <a:pPr marL="285750" indent="-285750">
              <a:buFont typeface="Wingdings" panose="05000000000000000000" pitchFamily="2" charset="2"/>
              <a:buChar char="q"/>
            </a:pPr>
            <a:r>
              <a:rPr lang="en-US" dirty="0"/>
              <a:t>Research highlights issues like algorithm bias and lack of transparency </a:t>
            </a:r>
          </a:p>
          <a:p>
            <a:pPr marL="285750" indent="-285750">
              <a:buFont typeface="Wingdings" panose="05000000000000000000" pitchFamily="2" charset="2"/>
              <a:buChar char="q"/>
            </a:pPr>
            <a:r>
              <a:rPr lang="en-US" dirty="0"/>
              <a:t>Some studies show scalability and data limitations in AI systems </a:t>
            </a:r>
          </a:p>
          <a:p>
            <a:pPr marL="285750" indent="-285750">
              <a:buFont typeface="Wingdings" panose="05000000000000000000" pitchFamily="2" charset="2"/>
              <a:buChar char="q"/>
            </a:pPr>
            <a:r>
              <a:rPr lang="en-US" dirty="0"/>
              <a:t>Deep learning models provide higher accuracy but require high computational power </a:t>
            </a:r>
          </a:p>
          <a:p>
            <a:endParaRPr lang="en-US" dirty="0"/>
          </a:p>
          <a:p>
            <a:endParaRPr lang="en-US" dirty="0"/>
          </a:p>
        </p:txBody>
      </p:sp>
      <p:pic>
        <p:nvPicPr>
          <p:cNvPr id="3" name="Picture 2" descr="Online MCA Course - Master of Computer ...">
            <a:extLst>
              <a:ext uri="{FF2B5EF4-FFF2-40B4-BE49-F238E27FC236}">
                <a16:creationId xmlns:a16="http://schemas.microsoft.com/office/drawing/2014/main" id="{E735D8BB-C4E6-4D2F-B108-9625969D2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0342" y="275672"/>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46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603327DF-6EC3-46C0-8A95-B410DEF89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0342" y="275672"/>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FD7CBB-85A7-43F5-AB7C-FC225ACB7232}"/>
              </a:ext>
            </a:extLst>
          </p:cNvPr>
          <p:cNvSpPr/>
          <p:nvPr/>
        </p:nvSpPr>
        <p:spPr>
          <a:xfrm>
            <a:off x="755373" y="1152939"/>
            <a:ext cx="10535479" cy="2585323"/>
          </a:xfrm>
          <a:prstGeom prst="rect">
            <a:avLst/>
          </a:prstGeom>
        </p:spPr>
        <p:txBody>
          <a:bodyPr wrap="square">
            <a:spAutoFit/>
          </a:bodyPr>
          <a:lstStyle/>
          <a:p>
            <a:r>
              <a:rPr lang="en-US" b="1" dirty="0"/>
              <a:t>Research Gap Identification</a:t>
            </a:r>
          </a:p>
          <a:p>
            <a:pPr marL="285750" indent="-285750">
              <a:buFont typeface="Wingdings" panose="05000000000000000000" pitchFamily="2" charset="2"/>
              <a:buChar char="q"/>
            </a:pPr>
            <a:r>
              <a:rPr lang="en-US" dirty="0"/>
              <a:t>Lack of effective solutions to reduce AI bias and ensure fairness </a:t>
            </a:r>
          </a:p>
          <a:p>
            <a:pPr marL="285750" indent="-285750">
              <a:buFont typeface="Wingdings" panose="05000000000000000000" pitchFamily="2" charset="2"/>
              <a:buChar char="q"/>
            </a:pPr>
            <a:r>
              <a:rPr lang="en-US" dirty="0"/>
              <a:t>No standard metrics to evaluate AI recruitment system performance </a:t>
            </a:r>
          </a:p>
          <a:p>
            <a:pPr marL="285750" indent="-285750">
              <a:buFont typeface="Wingdings" panose="05000000000000000000" pitchFamily="2" charset="2"/>
              <a:buChar char="q"/>
            </a:pPr>
            <a:r>
              <a:rPr lang="en-US" dirty="0"/>
              <a:t>Difficulty in handling unstructured and varied resume formats </a:t>
            </a:r>
          </a:p>
          <a:p>
            <a:pPr marL="285750" indent="-285750">
              <a:buFont typeface="Wingdings" panose="05000000000000000000" pitchFamily="2" charset="2"/>
              <a:buChar char="q"/>
            </a:pPr>
            <a:r>
              <a:rPr lang="en-US" dirty="0"/>
              <a:t>Limited real-world implementation of AI-based recruitment systems </a:t>
            </a:r>
          </a:p>
          <a:p>
            <a:pPr marL="285750" indent="-285750">
              <a:buFont typeface="Wingdings" panose="05000000000000000000" pitchFamily="2" charset="2"/>
              <a:buChar char="q"/>
            </a:pPr>
            <a:r>
              <a:rPr lang="en-US" dirty="0"/>
              <a:t>Lack of transparency (“black-box” issue) in AI decision-making </a:t>
            </a:r>
          </a:p>
          <a:p>
            <a:pPr marL="285750" indent="-285750">
              <a:buFont typeface="Wingdings" panose="05000000000000000000" pitchFamily="2" charset="2"/>
              <a:buChar char="q"/>
            </a:pPr>
            <a:r>
              <a:rPr lang="en-US" dirty="0"/>
              <a:t>Scalability challenges when processing large datasets </a:t>
            </a:r>
          </a:p>
          <a:p>
            <a:pPr marL="285750" indent="-285750">
              <a:buFont typeface="Wingdings" panose="05000000000000000000" pitchFamily="2" charset="2"/>
              <a:buChar char="q"/>
            </a:pPr>
            <a:r>
              <a:rPr lang="en-US" dirty="0"/>
              <a:t>Ethical and legal concerns like data privacy not fully addressed </a:t>
            </a:r>
          </a:p>
          <a:p>
            <a:pPr marL="285750" indent="-285750">
              <a:buFont typeface="Wingdings" panose="05000000000000000000" pitchFamily="2" charset="2"/>
              <a:buChar char="q"/>
            </a:pPr>
            <a:r>
              <a:rPr lang="en-US" dirty="0"/>
              <a:t>Need for practical, reliable, and explainable AI systems in recruitment</a:t>
            </a:r>
          </a:p>
        </p:txBody>
      </p:sp>
    </p:spTree>
    <p:extLst>
      <p:ext uri="{BB962C8B-B14F-4D97-AF65-F5344CB8AC3E}">
        <p14:creationId xmlns:p14="http://schemas.microsoft.com/office/powerpoint/2010/main" val="2446664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1AADDADE-FE51-4FC3-8B0D-0F1C04E14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0342" y="275672"/>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7A81317-B475-45CD-9A7E-846967EDAD5E}"/>
              </a:ext>
            </a:extLst>
          </p:cNvPr>
          <p:cNvSpPr/>
          <p:nvPr/>
        </p:nvSpPr>
        <p:spPr>
          <a:xfrm>
            <a:off x="940904" y="1033670"/>
            <a:ext cx="10815138" cy="5755422"/>
          </a:xfrm>
          <a:prstGeom prst="rect">
            <a:avLst/>
          </a:prstGeom>
        </p:spPr>
        <p:txBody>
          <a:bodyPr wrap="square">
            <a:spAutoFit/>
          </a:bodyPr>
          <a:lstStyle/>
          <a:p>
            <a:r>
              <a:rPr lang="en-US" b="1" dirty="0">
                <a:latin typeface="Times New Roman"/>
              </a:rPr>
              <a:t>                                                                 </a:t>
            </a:r>
            <a:r>
              <a:rPr lang="en-US" sz="2600" b="1" dirty="0">
                <a:latin typeface="Times New Roman"/>
              </a:rPr>
              <a:t>Research Methodology</a:t>
            </a:r>
          </a:p>
          <a:p>
            <a:endParaRPr lang="en-US" b="1" dirty="0"/>
          </a:p>
          <a:p>
            <a:r>
              <a:rPr lang="en-US" b="1" dirty="0"/>
              <a:t>Research Design</a:t>
            </a:r>
          </a:p>
          <a:p>
            <a:pPr marL="285750" indent="-285750">
              <a:buFont typeface="Wingdings" panose="05000000000000000000" pitchFamily="2" charset="2"/>
              <a:buChar char="q"/>
            </a:pPr>
            <a:r>
              <a:rPr lang="en-US" dirty="0"/>
              <a:t>Descriptive and analytical research design used </a:t>
            </a:r>
          </a:p>
          <a:p>
            <a:pPr marL="285750" indent="-285750">
              <a:buFont typeface="Wingdings" panose="05000000000000000000" pitchFamily="2" charset="2"/>
              <a:buChar char="q"/>
            </a:pPr>
            <a:r>
              <a:rPr lang="en-US" dirty="0"/>
              <a:t>Focus on understanding current recruitment practices and AI role </a:t>
            </a:r>
          </a:p>
          <a:p>
            <a:pPr marL="285750" indent="-285750">
              <a:buFont typeface="Wingdings" panose="05000000000000000000" pitchFamily="2" charset="2"/>
              <a:buChar char="q"/>
            </a:pPr>
            <a:r>
              <a:rPr lang="en-US" dirty="0"/>
              <a:t>Analytical approach to evaluate efficiency, accuracy, and bias reduction </a:t>
            </a:r>
          </a:p>
          <a:p>
            <a:pPr marL="285750" indent="-285750">
              <a:buFont typeface="Wingdings" panose="05000000000000000000" pitchFamily="2" charset="2"/>
              <a:buChar char="q"/>
            </a:pPr>
            <a:r>
              <a:rPr lang="en-US" dirty="0"/>
              <a:t>Applied research to provide practical solutions </a:t>
            </a:r>
          </a:p>
          <a:p>
            <a:pPr marL="285750" indent="-285750">
              <a:buFont typeface="Wingdings" panose="05000000000000000000" pitchFamily="2" charset="2"/>
              <a:buChar char="q"/>
            </a:pPr>
            <a:r>
              <a:rPr lang="en-US" dirty="0"/>
              <a:t>Combination of qualitative and quantitative analysis </a:t>
            </a:r>
          </a:p>
          <a:p>
            <a:pPr marL="285750" indent="-285750">
              <a:buFont typeface="Wingdings" panose="05000000000000000000" pitchFamily="2" charset="2"/>
              <a:buChar char="q"/>
            </a:pPr>
            <a:endParaRPr lang="en-US" dirty="0"/>
          </a:p>
          <a:p>
            <a:r>
              <a:rPr lang="en-US" b="1" dirty="0"/>
              <a:t>Type of Data</a:t>
            </a:r>
          </a:p>
          <a:p>
            <a:pPr marL="285750" indent="-285750">
              <a:buFont typeface="Wingdings" panose="05000000000000000000" pitchFamily="2" charset="2"/>
              <a:buChar char="q"/>
            </a:pPr>
            <a:r>
              <a:rPr lang="en-US" b="1" dirty="0"/>
              <a:t>Primary Data:</a:t>
            </a:r>
            <a:r>
              <a:rPr lang="en-US" dirty="0"/>
              <a:t> Collected directly from HR professionals, recruiters, and job seekers </a:t>
            </a:r>
          </a:p>
          <a:p>
            <a:pPr marL="285750" indent="-285750">
              <a:buFont typeface="Wingdings" panose="05000000000000000000" pitchFamily="2" charset="2"/>
              <a:buChar char="q"/>
            </a:pPr>
            <a:r>
              <a:rPr lang="en-US" b="1" dirty="0"/>
              <a:t>Secondary Data:</a:t>
            </a:r>
            <a:r>
              <a:rPr lang="en-US" dirty="0"/>
              <a:t> Collected from journals, research papers, reports, and online sources </a:t>
            </a:r>
          </a:p>
          <a:p>
            <a:endParaRPr lang="en-US" dirty="0"/>
          </a:p>
          <a:p>
            <a:r>
              <a:rPr lang="en-US" b="1" dirty="0"/>
              <a:t>Data Collection Methods</a:t>
            </a:r>
          </a:p>
          <a:p>
            <a:pPr marL="285750" indent="-285750">
              <a:buFont typeface="Wingdings" panose="05000000000000000000" pitchFamily="2" charset="2"/>
              <a:buChar char="q"/>
            </a:pPr>
            <a:r>
              <a:rPr lang="en-US" dirty="0"/>
              <a:t>Survey method using structured questionnaire (closed &amp; open-ended questions) </a:t>
            </a:r>
          </a:p>
          <a:p>
            <a:pPr marL="285750" indent="-285750">
              <a:buFont typeface="Wingdings" panose="05000000000000000000" pitchFamily="2" charset="2"/>
              <a:buChar char="q"/>
            </a:pPr>
            <a:r>
              <a:rPr lang="en-US" dirty="0"/>
              <a:t>Interviews with HR professionals for in-depth insights </a:t>
            </a:r>
          </a:p>
          <a:p>
            <a:pPr marL="285750" indent="-285750">
              <a:buFont typeface="Wingdings" panose="05000000000000000000" pitchFamily="2" charset="2"/>
              <a:buChar char="q"/>
            </a:pPr>
            <a:r>
              <a:rPr lang="en-US" dirty="0"/>
              <a:t>Observation of recruitment processes </a:t>
            </a:r>
          </a:p>
          <a:p>
            <a:pPr marL="285750" indent="-285750">
              <a:buFont typeface="Wingdings" panose="05000000000000000000" pitchFamily="2" charset="2"/>
              <a:buChar char="q"/>
            </a:pPr>
            <a:r>
              <a:rPr lang="en-US" dirty="0"/>
              <a:t>Secondary sources like journals, articles, and reports</a:t>
            </a:r>
          </a:p>
          <a:p>
            <a:endParaRPr lang="en-US" dirty="0"/>
          </a:p>
          <a:p>
            <a:endParaRPr lang="en-US" dirty="0"/>
          </a:p>
        </p:txBody>
      </p:sp>
    </p:spTree>
    <p:extLst>
      <p:ext uri="{BB962C8B-B14F-4D97-AF65-F5344CB8AC3E}">
        <p14:creationId xmlns:p14="http://schemas.microsoft.com/office/powerpoint/2010/main" val="2683847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F33D54E3-408A-4453-9D81-1FE19AF74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C249619-78A9-4535-BD58-01CE275C202A}"/>
              </a:ext>
            </a:extLst>
          </p:cNvPr>
          <p:cNvSpPr/>
          <p:nvPr/>
        </p:nvSpPr>
        <p:spPr>
          <a:xfrm>
            <a:off x="1152939" y="675861"/>
            <a:ext cx="7991061" cy="5909310"/>
          </a:xfrm>
          <a:prstGeom prst="rect">
            <a:avLst/>
          </a:prstGeom>
        </p:spPr>
        <p:txBody>
          <a:bodyPr wrap="square">
            <a:spAutoFit/>
          </a:bodyPr>
          <a:lstStyle/>
          <a:p>
            <a:r>
              <a:rPr lang="en-US" b="1" dirty="0"/>
              <a:t>Sampling Design &amp; Size</a:t>
            </a:r>
          </a:p>
          <a:p>
            <a:pPr marL="285750" indent="-285750">
              <a:buFont typeface="Wingdings" panose="05000000000000000000" pitchFamily="2" charset="2"/>
              <a:buChar char="q"/>
            </a:pPr>
            <a:r>
              <a:rPr lang="en-US" dirty="0"/>
              <a:t>Non-probability sampling (Convenience Sampling) </a:t>
            </a:r>
          </a:p>
          <a:p>
            <a:pPr marL="285750" indent="-285750">
              <a:buFont typeface="Wingdings" panose="05000000000000000000" pitchFamily="2" charset="2"/>
              <a:buChar char="q"/>
            </a:pPr>
            <a:r>
              <a:rPr lang="en-US" dirty="0"/>
              <a:t>Target respondents: HR professionals, recruiters, job seekers, students </a:t>
            </a:r>
          </a:p>
          <a:p>
            <a:pPr marL="285750" indent="-285750">
              <a:buFont typeface="Wingdings" panose="05000000000000000000" pitchFamily="2" charset="2"/>
              <a:buChar char="q"/>
            </a:pPr>
            <a:r>
              <a:rPr lang="en-US" dirty="0"/>
              <a:t>Sample size: Approximately 80–120 participants </a:t>
            </a:r>
          </a:p>
          <a:p>
            <a:pPr marL="285750" indent="-285750">
              <a:buFont typeface="Wingdings" panose="05000000000000000000" pitchFamily="2" charset="2"/>
              <a:buChar char="q"/>
            </a:pPr>
            <a:r>
              <a:rPr lang="en-US" dirty="0"/>
              <a:t>Chosen due to time constraints and ease of data collection</a:t>
            </a:r>
          </a:p>
          <a:p>
            <a:pPr>
              <a:buFont typeface="Arial" panose="020B0604020202020204" pitchFamily="34" charset="0"/>
              <a:buChar char="•"/>
            </a:pPr>
            <a:endParaRPr lang="en-US" dirty="0"/>
          </a:p>
          <a:p>
            <a:r>
              <a:rPr lang="en-US" b="1" dirty="0"/>
              <a:t>Tools &amp; Statistical Techniques</a:t>
            </a:r>
          </a:p>
          <a:p>
            <a:pPr marL="285750" indent="-285750">
              <a:buFont typeface="Wingdings" panose="05000000000000000000" pitchFamily="2" charset="2"/>
              <a:buChar char="q"/>
            </a:pPr>
            <a:r>
              <a:rPr lang="en-US" dirty="0"/>
              <a:t>Tools: Questionnaire, Google Forms, MS Excel, Python (for AI models) </a:t>
            </a:r>
          </a:p>
          <a:p>
            <a:pPr marL="285750" indent="-285750">
              <a:buFont typeface="Wingdings" panose="05000000000000000000" pitchFamily="2" charset="2"/>
              <a:buChar char="q"/>
            </a:pPr>
            <a:r>
              <a:rPr lang="en-US" dirty="0"/>
              <a:t>AI Techniques: Machine Learning (ML), Natural Language Processing (NLP) </a:t>
            </a:r>
          </a:p>
          <a:p>
            <a:pPr marL="285750" indent="-285750">
              <a:buFont typeface="Wingdings" panose="05000000000000000000" pitchFamily="2" charset="2"/>
              <a:buChar char="q"/>
            </a:pPr>
            <a:r>
              <a:rPr lang="en-US" dirty="0"/>
              <a:t>Descriptive statistics: Mean, percentage, frequency distribution </a:t>
            </a:r>
          </a:p>
          <a:p>
            <a:pPr marL="285750" indent="-285750">
              <a:buFont typeface="Wingdings" panose="05000000000000000000" pitchFamily="2" charset="2"/>
              <a:buChar char="q"/>
            </a:pPr>
            <a:r>
              <a:rPr lang="en-US" dirty="0"/>
              <a:t>Graphical representation: Charts, graphs, tables </a:t>
            </a:r>
          </a:p>
          <a:p>
            <a:pPr marL="285750" indent="-285750">
              <a:buFont typeface="Wingdings" panose="05000000000000000000" pitchFamily="2" charset="2"/>
              <a:buChar char="q"/>
            </a:pPr>
            <a:r>
              <a:rPr lang="en-US" dirty="0"/>
              <a:t>Correlation analysis to identify relationships </a:t>
            </a:r>
          </a:p>
          <a:p>
            <a:endParaRPr lang="en-US" dirty="0"/>
          </a:p>
          <a:p>
            <a:r>
              <a:rPr lang="en-US" b="1" dirty="0"/>
              <a:t>Reliability &amp; Validity</a:t>
            </a:r>
          </a:p>
          <a:p>
            <a:pPr marL="285750" indent="-285750">
              <a:buFont typeface="Wingdings" panose="05000000000000000000" pitchFamily="2" charset="2"/>
              <a:buChar char="q"/>
            </a:pPr>
            <a:r>
              <a:rPr lang="en-US" dirty="0"/>
              <a:t>Reliability ensured through structured questionnaire and consistent methods </a:t>
            </a:r>
          </a:p>
          <a:p>
            <a:pPr marL="285750" indent="-285750">
              <a:buFont typeface="Wingdings" panose="05000000000000000000" pitchFamily="2" charset="2"/>
              <a:buChar char="q"/>
            </a:pPr>
            <a:r>
              <a:rPr lang="en-US" dirty="0"/>
              <a:t>Validity ensured by aligning questions with research objectives </a:t>
            </a:r>
          </a:p>
          <a:p>
            <a:pPr marL="285750" indent="-285750">
              <a:buFont typeface="Wingdings" panose="05000000000000000000" pitchFamily="2" charset="2"/>
              <a:buChar char="q"/>
            </a:pPr>
            <a:r>
              <a:rPr lang="en-US" dirty="0"/>
              <a:t>Types of validity: </a:t>
            </a:r>
          </a:p>
          <a:p>
            <a:pPr marL="742950" lvl="1" indent="-285750">
              <a:buFont typeface="Wingdings" panose="05000000000000000000" pitchFamily="2" charset="2"/>
              <a:buChar char="q"/>
            </a:pPr>
            <a:r>
              <a:rPr lang="en-US" dirty="0"/>
              <a:t>Content Validity </a:t>
            </a:r>
          </a:p>
          <a:p>
            <a:pPr marL="742950" lvl="1" indent="-285750">
              <a:buFont typeface="Wingdings" panose="05000000000000000000" pitchFamily="2" charset="2"/>
              <a:buChar char="q"/>
            </a:pPr>
            <a:r>
              <a:rPr lang="en-US" dirty="0"/>
              <a:t>Construct Validity </a:t>
            </a:r>
          </a:p>
          <a:p>
            <a:pPr marL="742950" lvl="1" indent="-285750">
              <a:buFont typeface="Wingdings" panose="05000000000000000000" pitchFamily="2" charset="2"/>
              <a:buChar char="q"/>
            </a:pPr>
            <a:r>
              <a:rPr lang="en-US" dirty="0"/>
              <a:t>Face Validity </a:t>
            </a:r>
          </a:p>
          <a:p>
            <a:endParaRPr lang="en-US" dirty="0"/>
          </a:p>
        </p:txBody>
      </p:sp>
    </p:spTree>
    <p:extLst>
      <p:ext uri="{BB962C8B-B14F-4D97-AF65-F5344CB8AC3E}">
        <p14:creationId xmlns:p14="http://schemas.microsoft.com/office/powerpoint/2010/main" val="2376431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41815-32A2-4813-9F9B-6EDB2418C7D3}"/>
              </a:ext>
            </a:extLst>
          </p:cNvPr>
          <p:cNvSpPr/>
          <p:nvPr/>
        </p:nvSpPr>
        <p:spPr>
          <a:xfrm>
            <a:off x="636104" y="861393"/>
            <a:ext cx="10906539" cy="6032421"/>
          </a:xfrm>
          <a:prstGeom prst="rect">
            <a:avLst/>
          </a:prstGeom>
        </p:spPr>
        <p:txBody>
          <a:bodyPr wrap="square">
            <a:spAutoFit/>
          </a:bodyPr>
          <a:lstStyle/>
          <a:p>
            <a:r>
              <a:rPr lang="en-US" b="1" dirty="0">
                <a:latin typeface="Times New Roman"/>
              </a:rPr>
              <a:t>                                                          </a:t>
            </a:r>
            <a:r>
              <a:rPr lang="en-US" sz="2600" b="1" dirty="0">
                <a:latin typeface="Times New Roman"/>
              </a:rPr>
              <a:t>Data Analysis &amp; Interpretation</a:t>
            </a:r>
          </a:p>
          <a:p>
            <a:endParaRPr lang="en-US" b="1" dirty="0">
              <a:latin typeface="Times New Roman"/>
            </a:endParaRPr>
          </a:p>
          <a:p>
            <a:r>
              <a:rPr lang="en-US" b="1" dirty="0"/>
              <a:t>Question 1 Analysis (Operational Performance – Delays &amp; Efficiency)</a:t>
            </a:r>
          </a:p>
          <a:p>
            <a:pPr marL="285750" indent="-285750">
              <a:buFont typeface="Wingdings" panose="05000000000000000000" pitchFamily="2" charset="2"/>
              <a:buChar char="q"/>
            </a:pPr>
            <a:r>
              <a:rPr lang="en-US" dirty="0"/>
              <a:t>72% respondents are aware of AI-based recruitment systems </a:t>
            </a:r>
          </a:p>
          <a:p>
            <a:pPr marL="285750" indent="-285750">
              <a:buFont typeface="Wingdings" panose="05000000000000000000" pitchFamily="2" charset="2"/>
              <a:buChar char="q"/>
            </a:pPr>
            <a:r>
              <a:rPr lang="en-US" dirty="0"/>
              <a:t>High awareness indicates growing adoption of AI in HR processes </a:t>
            </a:r>
          </a:p>
          <a:p>
            <a:pPr marL="285750" indent="-285750">
              <a:buFont typeface="Wingdings" panose="05000000000000000000" pitchFamily="2" charset="2"/>
              <a:buChar char="q"/>
            </a:pPr>
            <a:r>
              <a:rPr lang="en-US" dirty="0"/>
              <a:t>75% respondents agree that AI improves recruitment efficiency </a:t>
            </a:r>
          </a:p>
          <a:p>
            <a:pPr marL="285750" indent="-285750">
              <a:buFont typeface="Wingdings" panose="05000000000000000000" pitchFamily="2" charset="2"/>
              <a:buChar char="q"/>
            </a:pPr>
            <a:r>
              <a:rPr lang="en-US" dirty="0"/>
              <a:t>AI reduces hiring time and speeds up resume screening </a:t>
            </a:r>
          </a:p>
          <a:p>
            <a:pPr marL="285750" indent="-285750">
              <a:buFont typeface="Wingdings" panose="05000000000000000000" pitchFamily="2" charset="2"/>
              <a:buChar char="q"/>
            </a:pPr>
            <a:r>
              <a:rPr lang="en-US" dirty="0"/>
              <a:t>Traditional recruitment identified as time-consuming (38%) </a:t>
            </a:r>
          </a:p>
          <a:p>
            <a:pPr marL="285750" indent="-285750">
              <a:buFont typeface="Wingdings" panose="05000000000000000000" pitchFamily="2" charset="2"/>
              <a:buChar char="q"/>
            </a:pPr>
            <a:r>
              <a:rPr lang="en-US" dirty="0"/>
              <a:t>AI helps in handling large volumes of resumes efficiently </a:t>
            </a:r>
          </a:p>
          <a:p>
            <a:pPr marL="285750" indent="-285750">
              <a:buFont typeface="Wingdings" panose="05000000000000000000" pitchFamily="2" charset="2"/>
              <a:buChar char="q"/>
            </a:pPr>
            <a:r>
              <a:rPr lang="en-US" dirty="0"/>
              <a:t>Overall, AI improves operational performance by reducing delays and manual workload</a:t>
            </a:r>
          </a:p>
          <a:p>
            <a:endParaRPr lang="en-US" dirty="0"/>
          </a:p>
          <a:p>
            <a:r>
              <a:rPr lang="en-US" b="1" dirty="0"/>
              <a:t>Question 2 Analysis (Financial Performance)</a:t>
            </a:r>
          </a:p>
          <a:p>
            <a:pPr marL="285750" indent="-285750">
              <a:buFont typeface="Wingdings" panose="05000000000000000000" pitchFamily="2" charset="2"/>
              <a:buChar char="q"/>
            </a:pPr>
            <a:r>
              <a:rPr lang="en-US" dirty="0"/>
              <a:t>AI reduces overall recruitment costs by minimizing manual effort </a:t>
            </a:r>
          </a:p>
          <a:p>
            <a:pPr marL="285750" indent="-285750">
              <a:buFont typeface="Wingdings" panose="05000000000000000000" pitchFamily="2" charset="2"/>
              <a:buChar char="q"/>
            </a:pPr>
            <a:r>
              <a:rPr lang="en-US" dirty="0"/>
              <a:t>Automation leads to lower operational and administrative expenses </a:t>
            </a:r>
          </a:p>
          <a:p>
            <a:pPr marL="285750" indent="-285750">
              <a:buFont typeface="Wingdings" panose="05000000000000000000" pitchFamily="2" charset="2"/>
              <a:buChar char="q"/>
            </a:pPr>
            <a:r>
              <a:rPr lang="en-US" dirty="0"/>
              <a:t>Faster hiring reduces cost-per-hire and time-to-hire </a:t>
            </a:r>
          </a:p>
          <a:p>
            <a:pPr marL="285750" indent="-285750">
              <a:buFont typeface="Wingdings" panose="05000000000000000000" pitchFamily="2" charset="2"/>
              <a:buChar char="q"/>
            </a:pPr>
            <a:r>
              <a:rPr lang="en-US" dirty="0"/>
              <a:t>75% respondents believe AI improves efficiency, indirectly improving financial performance </a:t>
            </a:r>
          </a:p>
          <a:p>
            <a:pPr marL="285750" indent="-285750">
              <a:buFont typeface="Wingdings" panose="05000000000000000000" pitchFamily="2" charset="2"/>
              <a:buChar char="q"/>
            </a:pPr>
            <a:r>
              <a:rPr lang="en-US" dirty="0"/>
              <a:t>AI optimizes resource utilization in HR departments </a:t>
            </a:r>
          </a:p>
          <a:p>
            <a:pPr marL="285750" indent="-285750">
              <a:buFont typeface="Wingdings" panose="05000000000000000000" pitchFamily="2" charset="2"/>
              <a:buChar char="q"/>
            </a:pPr>
            <a:r>
              <a:rPr lang="en-US" dirty="0"/>
              <a:t>Organizations benefit from better hiring decisions, reducing turnover costs </a:t>
            </a:r>
          </a:p>
          <a:p>
            <a:pPr marL="285750" indent="-285750">
              <a:buFont typeface="Wingdings" panose="05000000000000000000" pitchFamily="2" charset="2"/>
              <a:buChar char="q"/>
            </a:pPr>
            <a:r>
              <a:rPr lang="en-US" dirty="0"/>
              <a:t>Overall, AI contributes to cost savings and improved financial efficiency</a:t>
            </a:r>
          </a:p>
          <a:p>
            <a:endParaRPr lang="en-US" dirty="0"/>
          </a:p>
          <a:p>
            <a:endParaRPr lang="en-US" dirty="0"/>
          </a:p>
        </p:txBody>
      </p:sp>
      <p:pic>
        <p:nvPicPr>
          <p:cNvPr id="3" name="Picture 2" descr="Online MCA Course - Master of Computer ...">
            <a:extLst>
              <a:ext uri="{FF2B5EF4-FFF2-40B4-BE49-F238E27FC236}">
                <a16:creationId xmlns:a16="http://schemas.microsoft.com/office/drawing/2014/main" id="{AB1110CC-974D-4D19-A90E-893481CF1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349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BFF76155-2B67-4A49-AC6F-FBB10D42B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42562BA-B005-4880-89EF-8572AAAE4196}"/>
              </a:ext>
            </a:extLst>
          </p:cNvPr>
          <p:cNvSpPr/>
          <p:nvPr/>
        </p:nvSpPr>
        <p:spPr>
          <a:xfrm>
            <a:off x="662609" y="1099931"/>
            <a:ext cx="10707756" cy="2585323"/>
          </a:xfrm>
          <a:prstGeom prst="rect">
            <a:avLst/>
          </a:prstGeom>
        </p:spPr>
        <p:txBody>
          <a:bodyPr wrap="square">
            <a:spAutoFit/>
          </a:bodyPr>
          <a:lstStyle/>
          <a:p>
            <a:r>
              <a:rPr lang="en-US" b="1" dirty="0"/>
              <a:t>Question 3 Analysis (Customer &amp; Service Performance)</a:t>
            </a:r>
          </a:p>
          <a:p>
            <a:pPr marL="285750" indent="-285750">
              <a:buFont typeface="Wingdings" panose="05000000000000000000" pitchFamily="2" charset="2"/>
              <a:buChar char="q"/>
            </a:pPr>
            <a:r>
              <a:rPr lang="en-US" dirty="0"/>
              <a:t>AI improves candidate experience through faster responses and communication </a:t>
            </a:r>
          </a:p>
          <a:p>
            <a:pPr marL="285750" indent="-285750">
              <a:buFont typeface="Wingdings" panose="05000000000000000000" pitchFamily="2" charset="2"/>
              <a:buChar char="q"/>
            </a:pPr>
            <a:r>
              <a:rPr lang="en-US" dirty="0"/>
              <a:t>70% respondents are satisfied with AI-based recruitment systems </a:t>
            </a:r>
          </a:p>
          <a:p>
            <a:pPr marL="285750" indent="-285750">
              <a:buFont typeface="Wingdings" panose="05000000000000000000" pitchFamily="2" charset="2"/>
              <a:buChar char="q"/>
            </a:pPr>
            <a:r>
              <a:rPr lang="en-US" dirty="0"/>
              <a:t>Resume screening (35%) and candidate matching (30%) are most valued features </a:t>
            </a:r>
          </a:p>
          <a:p>
            <a:pPr marL="285750" indent="-285750">
              <a:buFont typeface="Wingdings" panose="05000000000000000000" pitchFamily="2" charset="2"/>
              <a:buChar char="q"/>
            </a:pPr>
            <a:r>
              <a:rPr lang="en-US" dirty="0"/>
              <a:t>AI enhances service quality by providing accurate and consistent results </a:t>
            </a:r>
          </a:p>
          <a:p>
            <a:pPr marL="285750" indent="-285750">
              <a:buFont typeface="Wingdings" panose="05000000000000000000" pitchFamily="2" charset="2"/>
              <a:buChar char="q"/>
            </a:pPr>
            <a:r>
              <a:rPr lang="en-US" dirty="0"/>
              <a:t>Reduces human bias, improving fairness in candidate selection </a:t>
            </a:r>
          </a:p>
          <a:p>
            <a:pPr marL="285750" indent="-285750">
              <a:buFont typeface="Wingdings" panose="05000000000000000000" pitchFamily="2" charset="2"/>
              <a:buChar char="q"/>
            </a:pPr>
            <a:r>
              <a:rPr lang="en-US" dirty="0"/>
              <a:t>However, concerns remain: data privacy (30%) and transparency (25%) </a:t>
            </a:r>
          </a:p>
          <a:p>
            <a:pPr marL="285750" indent="-285750">
              <a:buFont typeface="Wingdings" panose="05000000000000000000" pitchFamily="2" charset="2"/>
              <a:buChar char="q"/>
            </a:pPr>
            <a:r>
              <a:rPr lang="en-US" dirty="0"/>
              <a:t>Majority (55%) believe AI cannot fully replace human recruiters → human touch still important </a:t>
            </a:r>
          </a:p>
          <a:p>
            <a:pPr marL="285750" indent="-285750">
              <a:buFont typeface="Wingdings" panose="05000000000000000000" pitchFamily="2" charset="2"/>
              <a:buChar char="q"/>
            </a:pPr>
            <a:r>
              <a:rPr lang="en-US" dirty="0"/>
              <a:t>Overall, AI improves service quality but requires ethical implementation</a:t>
            </a:r>
          </a:p>
        </p:txBody>
      </p:sp>
    </p:spTree>
    <p:extLst>
      <p:ext uri="{BB962C8B-B14F-4D97-AF65-F5344CB8AC3E}">
        <p14:creationId xmlns:p14="http://schemas.microsoft.com/office/powerpoint/2010/main" val="664683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59D521-E3BC-4311-9CBE-73195114BAFD}"/>
              </a:ext>
            </a:extLst>
          </p:cNvPr>
          <p:cNvSpPr/>
          <p:nvPr/>
        </p:nvSpPr>
        <p:spPr>
          <a:xfrm>
            <a:off x="901148" y="371061"/>
            <a:ext cx="11076309" cy="7417415"/>
          </a:xfrm>
          <a:prstGeom prst="rect">
            <a:avLst/>
          </a:prstGeom>
        </p:spPr>
        <p:txBody>
          <a:bodyPr wrap="square">
            <a:spAutoFit/>
          </a:bodyPr>
          <a:lstStyle/>
          <a:p>
            <a:r>
              <a:rPr lang="en-US" b="1" dirty="0">
                <a:latin typeface="Times New Roman"/>
              </a:rPr>
              <a:t>                                                                   </a:t>
            </a:r>
          </a:p>
          <a:p>
            <a:r>
              <a:rPr lang="en-US" sz="2600" b="1" dirty="0">
                <a:latin typeface="Times New Roman"/>
              </a:rPr>
              <a:t>                                              Findings / Results</a:t>
            </a:r>
          </a:p>
          <a:p>
            <a:endParaRPr lang="en-US" b="1" dirty="0"/>
          </a:p>
          <a:p>
            <a:r>
              <a:rPr lang="en-US" b="1" dirty="0"/>
              <a:t>Key Finding 1 (Operational Performance)</a:t>
            </a:r>
          </a:p>
          <a:p>
            <a:pPr marL="285750" indent="-285750">
              <a:buFont typeface="Wingdings" panose="05000000000000000000" pitchFamily="2" charset="2"/>
              <a:buChar char="q"/>
            </a:pPr>
            <a:r>
              <a:rPr lang="en-US" dirty="0"/>
              <a:t>72% respondents are aware of AI-based recruitment systems </a:t>
            </a:r>
          </a:p>
          <a:p>
            <a:pPr marL="285750" indent="-285750">
              <a:buFont typeface="Wingdings" panose="05000000000000000000" pitchFamily="2" charset="2"/>
              <a:buChar char="q"/>
            </a:pPr>
            <a:r>
              <a:rPr lang="en-US" dirty="0"/>
              <a:t>60% respondents have already used AI tools in hiring </a:t>
            </a:r>
          </a:p>
          <a:p>
            <a:pPr marL="285750" indent="-285750">
              <a:buFont typeface="Wingdings" panose="05000000000000000000" pitchFamily="2" charset="2"/>
              <a:buChar char="q"/>
            </a:pPr>
            <a:r>
              <a:rPr lang="en-US" dirty="0"/>
              <a:t>AI significantly reduces manual workload and processing time </a:t>
            </a:r>
          </a:p>
          <a:p>
            <a:pPr marL="285750" indent="-285750">
              <a:buFont typeface="Wingdings" panose="05000000000000000000" pitchFamily="2" charset="2"/>
              <a:buChar char="q"/>
            </a:pPr>
            <a:r>
              <a:rPr lang="en-US" dirty="0"/>
              <a:t>Improves speed of resume screening and candidate shortlisting </a:t>
            </a:r>
          </a:p>
          <a:p>
            <a:pPr marL="285750" indent="-285750">
              <a:buFont typeface="Wingdings" panose="05000000000000000000" pitchFamily="2" charset="2"/>
              <a:buChar char="q"/>
            </a:pPr>
            <a:r>
              <a:rPr lang="en-US" dirty="0"/>
              <a:t>Handles large volumes of applications efficiently </a:t>
            </a:r>
          </a:p>
          <a:p>
            <a:pPr marL="285750" indent="-285750">
              <a:buFont typeface="Wingdings" panose="05000000000000000000" pitchFamily="2" charset="2"/>
              <a:buChar char="q"/>
            </a:pPr>
            <a:r>
              <a:rPr lang="en-US" dirty="0"/>
              <a:t>Enhances accuracy and consistency in candidate selection </a:t>
            </a:r>
          </a:p>
          <a:p>
            <a:pPr marL="285750" indent="-285750">
              <a:buFont typeface="Wingdings" panose="05000000000000000000" pitchFamily="2" charset="2"/>
              <a:buChar char="q"/>
            </a:pPr>
            <a:r>
              <a:rPr lang="en-US" dirty="0"/>
              <a:t>Increases overall productivity of HR operations </a:t>
            </a:r>
          </a:p>
          <a:p>
            <a:pPr marL="285750" indent="-285750">
              <a:buFont typeface="Wingdings" panose="05000000000000000000" pitchFamily="2" charset="2"/>
              <a:buChar char="q"/>
            </a:pPr>
            <a:r>
              <a:rPr lang="en-US" dirty="0"/>
              <a:t>However, 40% non-users indicate need for more awareness and training</a:t>
            </a:r>
          </a:p>
          <a:p>
            <a:endParaRPr lang="en-US" dirty="0"/>
          </a:p>
          <a:p>
            <a:r>
              <a:rPr lang="en-US" b="1" dirty="0"/>
              <a:t>Key Finding 2 (Financial Performance)</a:t>
            </a:r>
          </a:p>
          <a:p>
            <a:pPr marL="285750" indent="-285750">
              <a:buFont typeface="Wingdings" panose="05000000000000000000" pitchFamily="2" charset="2"/>
              <a:buChar char="q"/>
            </a:pPr>
            <a:r>
              <a:rPr lang="en-US" dirty="0"/>
              <a:t>AI reduces operational and administrative recruitment costs </a:t>
            </a:r>
          </a:p>
          <a:p>
            <a:pPr marL="285750" indent="-285750">
              <a:buFont typeface="Wingdings" panose="05000000000000000000" pitchFamily="2" charset="2"/>
              <a:buChar char="q"/>
            </a:pPr>
            <a:r>
              <a:rPr lang="en-US" dirty="0"/>
              <a:t>Automation lowers dependency on manual HR efforts </a:t>
            </a:r>
          </a:p>
          <a:p>
            <a:pPr marL="285750" indent="-285750">
              <a:buFont typeface="Wingdings" panose="05000000000000000000" pitchFamily="2" charset="2"/>
              <a:buChar char="q"/>
            </a:pPr>
            <a:r>
              <a:rPr lang="en-US" dirty="0"/>
              <a:t>Faster hiring reduces cost-per-hire and time-to-hire </a:t>
            </a:r>
          </a:p>
          <a:p>
            <a:pPr marL="285750" indent="-285750">
              <a:buFont typeface="Wingdings" panose="05000000000000000000" pitchFamily="2" charset="2"/>
              <a:buChar char="q"/>
            </a:pPr>
            <a:r>
              <a:rPr lang="en-US" dirty="0"/>
              <a:t>Improves resource utilization within HR departments </a:t>
            </a:r>
          </a:p>
          <a:p>
            <a:pPr marL="285750" indent="-285750">
              <a:buFont typeface="Wingdings" panose="05000000000000000000" pitchFamily="2" charset="2"/>
              <a:buChar char="q"/>
            </a:pPr>
            <a:r>
              <a:rPr lang="en-US" dirty="0"/>
              <a:t>Better candidate matching reduces employee turnover costs </a:t>
            </a:r>
          </a:p>
          <a:p>
            <a:pPr marL="285750" indent="-285750">
              <a:buFont typeface="Wingdings" panose="05000000000000000000" pitchFamily="2" charset="2"/>
              <a:buChar char="q"/>
            </a:pPr>
            <a:r>
              <a:rPr lang="en-US" dirty="0"/>
              <a:t>Enhances ROI by improving hiring quality and efficiency </a:t>
            </a:r>
          </a:p>
          <a:p>
            <a:pPr marL="285750" indent="-285750">
              <a:buFont typeface="Wingdings" panose="05000000000000000000" pitchFamily="2" charset="2"/>
              <a:buChar char="q"/>
            </a:pPr>
            <a:r>
              <a:rPr lang="en-US" dirty="0"/>
              <a:t>Cost-related concerns still exist (implementation and setup cost) </a:t>
            </a:r>
          </a:p>
          <a:p>
            <a:endParaRPr lang="en-US" dirty="0"/>
          </a:p>
          <a:p>
            <a:endParaRPr lang="en-US" b="1" dirty="0">
              <a:latin typeface="Times New Roman"/>
            </a:endParaRPr>
          </a:p>
          <a:p>
            <a:endParaRPr lang="en-US" b="1" dirty="0">
              <a:latin typeface="Times New Roman"/>
            </a:endParaRPr>
          </a:p>
          <a:p>
            <a:endParaRPr lang="en-US" dirty="0"/>
          </a:p>
        </p:txBody>
      </p:sp>
      <p:pic>
        <p:nvPicPr>
          <p:cNvPr id="3" name="Picture 2" descr="Online MCA Course - Master of Computer ...">
            <a:extLst>
              <a:ext uri="{FF2B5EF4-FFF2-40B4-BE49-F238E27FC236}">
                <a16:creationId xmlns:a16="http://schemas.microsoft.com/office/drawing/2014/main" id="{028C9960-C3ED-4ECB-AB00-4CC74176B3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76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2FE2012B-E847-4D5A-B6AB-463587FB5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5DDF539-2CA3-4D51-9642-E5041D3DA911}"/>
              </a:ext>
            </a:extLst>
          </p:cNvPr>
          <p:cNvSpPr/>
          <p:nvPr/>
        </p:nvSpPr>
        <p:spPr>
          <a:xfrm>
            <a:off x="781877" y="1099930"/>
            <a:ext cx="10734261" cy="2862322"/>
          </a:xfrm>
          <a:prstGeom prst="rect">
            <a:avLst/>
          </a:prstGeom>
        </p:spPr>
        <p:txBody>
          <a:bodyPr wrap="square">
            <a:spAutoFit/>
          </a:bodyPr>
          <a:lstStyle/>
          <a:p>
            <a:endParaRPr lang="en-US" b="1" dirty="0"/>
          </a:p>
          <a:p>
            <a:r>
              <a:rPr lang="en-US" b="1" dirty="0"/>
              <a:t>Key Finding 3 (Customer &amp; Service Performance)</a:t>
            </a:r>
          </a:p>
          <a:p>
            <a:pPr marL="285750" indent="-285750">
              <a:buFont typeface="Wingdings" panose="05000000000000000000" pitchFamily="2" charset="2"/>
              <a:buChar char="q"/>
            </a:pPr>
            <a:r>
              <a:rPr lang="en-US" dirty="0"/>
              <a:t>AI improves candidate experience through faster communication </a:t>
            </a:r>
          </a:p>
          <a:p>
            <a:pPr marL="285750" indent="-285750">
              <a:buFont typeface="Wingdings" panose="05000000000000000000" pitchFamily="2" charset="2"/>
              <a:buChar char="q"/>
            </a:pPr>
            <a:r>
              <a:rPr lang="en-US" dirty="0"/>
              <a:t>High satisfaction levels due to speed and accuracy of AI systems </a:t>
            </a:r>
          </a:p>
          <a:p>
            <a:pPr marL="285750" indent="-285750">
              <a:buFont typeface="Wingdings" panose="05000000000000000000" pitchFamily="2" charset="2"/>
              <a:buChar char="q"/>
            </a:pPr>
            <a:r>
              <a:rPr lang="en-US" dirty="0"/>
              <a:t>Key useful features: resume screening, candidate matching, shortlisting </a:t>
            </a:r>
          </a:p>
          <a:p>
            <a:pPr marL="285750" indent="-285750">
              <a:buFont typeface="Wingdings" panose="05000000000000000000" pitchFamily="2" charset="2"/>
              <a:buChar char="q"/>
            </a:pPr>
            <a:r>
              <a:rPr lang="en-US" dirty="0"/>
              <a:t>Reduces human bias, improving fairness in recruitment </a:t>
            </a:r>
          </a:p>
          <a:p>
            <a:pPr marL="285750" indent="-285750">
              <a:buFont typeface="Wingdings" panose="05000000000000000000" pitchFamily="2" charset="2"/>
              <a:buChar char="q"/>
            </a:pPr>
            <a:r>
              <a:rPr lang="en-US" dirty="0"/>
              <a:t>Enhances service quality and consistency in hiring decisions </a:t>
            </a:r>
          </a:p>
          <a:p>
            <a:pPr marL="285750" indent="-285750">
              <a:buFont typeface="Wingdings" panose="05000000000000000000" pitchFamily="2" charset="2"/>
              <a:buChar char="q"/>
            </a:pPr>
            <a:r>
              <a:rPr lang="en-US" dirty="0"/>
              <a:t>Concerns remain: data privacy, transparency, and algorithm bias </a:t>
            </a:r>
          </a:p>
          <a:p>
            <a:pPr marL="285750" indent="-285750">
              <a:buFont typeface="Wingdings" panose="05000000000000000000" pitchFamily="2" charset="2"/>
              <a:buChar char="q"/>
            </a:pPr>
            <a:r>
              <a:rPr lang="en-US" dirty="0"/>
              <a:t>AI cannot fully replace human recruiters → human involvement still essential </a:t>
            </a:r>
          </a:p>
          <a:p>
            <a:pPr marL="285750" indent="-285750">
              <a:buFont typeface="Wingdings" panose="05000000000000000000" pitchFamily="2" charset="2"/>
              <a:buChar char="q"/>
            </a:pPr>
            <a:r>
              <a:rPr lang="en-US" dirty="0"/>
              <a:t>Overall improves service efficiency but requires ethical implementation</a:t>
            </a:r>
          </a:p>
        </p:txBody>
      </p:sp>
    </p:spTree>
    <p:extLst>
      <p:ext uri="{BB962C8B-B14F-4D97-AF65-F5344CB8AC3E}">
        <p14:creationId xmlns:p14="http://schemas.microsoft.com/office/powerpoint/2010/main" val="2222110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F650AB-1B8A-48A9-AE5C-EFA42DF5D643}"/>
              </a:ext>
            </a:extLst>
          </p:cNvPr>
          <p:cNvSpPr/>
          <p:nvPr/>
        </p:nvSpPr>
        <p:spPr>
          <a:xfrm>
            <a:off x="399976" y="742122"/>
            <a:ext cx="10705346" cy="5478423"/>
          </a:xfrm>
          <a:prstGeom prst="rect">
            <a:avLst/>
          </a:prstGeom>
        </p:spPr>
        <p:txBody>
          <a:bodyPr wrap="square">
            <a:spAutoFit/>
          </a:bodyPr>
          <a:lstStyle/>
          <a:p>
            <a:r>
              <a:rPr lang="en-US" b="1" dirty="0">
                <a:latin typeface="Times New Roman"/>
              </a:rPr>
              <a:t>                                                                                  </a:t>
            </a:r>
          </a:p>
          <a:p>
            <a:r>
              <a:rPr lang="en-US" sz="2600" b="1" dirty="0">
                <a:latin typeface="Times New Roman"/>
              </a:rPr>
              <a:t>                                                          Conclusion</a:t>
            </a:r>
          </a:p>
          <a:p>
            <a:endParaRPr lang="en-US" b="1" dirty="0"/>
          </a:p>
          <a:p>
            <a:pPr marL="285750" indent="-285750">
              <a:buFont typeface="Wingdings" panose="05000000000000000000" pitchFamily="2" charset="2"/>
              <a:buChar char="q"/>
            </a:pPr>
            <a:r>
              <a:rPr lang="en-US" dirty="0"/>
              <a:t>AI-based recruitment systems significantly improve hiring efficiency and speed </a:t>
            </a:r>
          </a:p>
          <a:p>
            <a:pPr marL="285750" indent="-285750">
              <a:buFont typeface="Wingdings" panose="05000000000000000000" pitchFamily="2" charset="2"/>
              <a:buChar char="q"/>
            </a:pPr>
            <a:r>
              <a:rPr lang="en-US" dirty="0"/>
              <a:t>Automation reduces manual workload and handles large volumes of applications effectively </a:t>
            </a:r>
          </a:p>
          <a:p>
            <a:pPr marL="285750" indent="-285750">
              <a:buFont typeface="Wingdings" panose="05000000000000000000" pitchFamily="2" charset="2"/>
              <a:buChar char="q"/>
            </a:pPr>
            <a:r>
              <a:rPr lang="en-US" dirty="0"/>
              <a:t>AI enhances accuracy, consistency, and quality of candidate selection </a:t>
            </a:r>
          </a:p>
          <a:p>
            <a:pPr marL="285750" indent="-285750">
              <a:buFont typeface="Wingdings" panose="05000000000000000000" pitchFamily="2" charset="2"/>
              <a:buChar char="q"/>
            </a:pPr>
            <a:r>
              <a:rPr lang="en-US" dirty="0"/>
              <a:t>Traditional recruitment methods are slow, biased, and less scalable </a:t>
            </a:r>
          </a:p>
          <a:p>
            <a:pPr marL="285750" indent="-285750">
              <a:buFont typeface="Wingdings" panose="05000000000000000000" pitchFamily="2" charset="2"/>
              <a:buChar char="q"/>
            </a:pPr>
            <a:r>
              <a:rPr lang="en-US" dirty="0"/>
              <a:t>Majority of respondents support AI adoption in recruitment processes </a:t>
            </a:r>
          </a:p>
          <a:p>
            <a:pPr marL="285750" indent="-285750">
              <a:buFont typeface="Wingdings" panose="05000000000000000000" pitchFamily="2" charset="2"/>
              <a:buChar char="q"/>
            </a:pPr>
            <a:r>
              <a:rPr lang="en-US" dirty="0"/>
              <a:t>AI helps in better decision-making through data-driven analysis </a:t>
            </a:r>
          </a:p>
          <a:p>
            <a:pPr marL="285750" indent="-285750">
              <a:buFont typeface="Wingdings" panose="05000000000000000000" pitchFamily="2" charset="2"/>
              <a:buChar char="q"/>
            </a:pPr>
            <a:r>
              <a:rPr lang="en-US" dirty="0"/>
              <a:t>Reduces human bias, promoting fairness in hiring (with proper implementation) </a:t>
            </a:r>
          </a:p>
          <a:p>
            <a:pPr marL="285750" indent="-285750">
              <a:buFont typeface="Wingdings" panose="05000000000000000000" pitchFamily="2" charset="2"/>
              <a:buChar char="q"/>
            </a:pPr>
            <a:r>
              <a:rPr lang="en-US" dirty="0"/>
              <a:t>Hypothesis confirmed: AI improves recruitment speed and accuracy </a:t>
            </a:r>
          </a:p>
          <a:p>
            <a:pPr marL="285750" indent="-285750">
              <a:buFont typeface="Wingdings" panose="05000000000000000000" pitchFamily="2" charset="2"/>
              <a:buChar char="q"/>
            </a:pPr>
            <a:r>
              <a:rPr lang="en-US" dirty="0"/>
              <a:t>Organizations benefit through cost savings, productivity, and better resource utilization </a:t>
            </a:r>
          </a:p>
          <a:p>
            <a:pPr marL="285750" indent="-285750">
              <a:buFont typeface="Wingdings" panose="05000000000000000000" pitchFamily="2" charset="2"/>
              <a:buChar char="q"/>
            </a:pPr>
            <a:r>
              <a:rPr lang="en-US" dirty="0"/>
              <a:t>AI provides competitive advantage by enabling faster and smarter hiring </a:t>
            </a:r>
          </a:p>
          <a:p>
            <a:pPr marL="285750" indent="-285750">
              <a:buFont typeface="Wingdings" panose="05000000000000000000" pitchFamily="2" charset="2"/>
              <a:buChar char="q"/>
            </a:pPr>
            <a:r>
              <a:rPr lang="en-US" dirty="0"/>
              <a:t>However, challenges remain: data privacy, transparency, and algorithm bias </a:t>
            </a:r>
          </a:p>
          <a:p>
            <a:pPr marL="285750" indent="-285750">
              <a:buFont typeface="Wingdings" panose="05000000000000000000" pitchFamily="2" charset="2"/>
              <a:buChar char="q"/>
            </a:pPr>
            <a:r>
              <a:rPr lang="en-US" dirty="0"/>
              <a:t>AI should be used as a support tool, not a complete replacement for human recruiters </a:t>
            </a:r>
          </a:p>
          <a:p>
            <a:pPr marL="285750" indent="-285750">
              <a:buFont typeface="Wingdings" panose="05000000000000000000" pitchFamily="2" charset="2"/>
              <a:buChar char="q"/>
            </a:pPr>
            <a:r>
              <a:rPr lang="en-US" dirty="0"/>
              <a:t>A balance between AI technology and human judgment is essential </a:t>
            </a:r>
          </a:p>
          <a:p>
            <a:pPr marL="285750" indent="-285750">
              <a:buFont typeface="Wingdings" panose="05000000000000000000" pitchFamily="2" charset="2"/>
              <a:buChar char="q"/>
            </a:pPr>
            <a:r>
              <a:rPr lang="en-US" dirty="0"/>
              <a:t>Ethical, transparent, and secure use of AI is critical for long-term success </a:t>
            </a:r>
          </a:p>
          <a:p>
            <a:pPr marL="285750" indent="-285750">
              <a:buFont typeface="Wingdings" panose="05000000000000000000" pitchFamily="2" charset="2"/>
              <a:buChar char="q"/>
            </a:pPr>
            <a:r>
              <a:rPr lang="en-US" dirty="0"/>
              <a:t>Overall, AI has strong potential to transform modern recruitment systems</a:t>
            </a:r>
          </a:p>
          <a:p>
            <a:endParaRPr lang="en-US" dirty="0"/>
          </a:p>
        </p:txBody>
      </p:sp>
      <p:pic>
        <p:nvPicPr>
          <p:cNvPr id="3" name="Picture 2" descr="Online MCA Course - Master of Computer ...">
            <a:extLst>
              <a:ext uri="{FF2B5EF4-FFF2-40B4-BE49-F238E27FC236}">
                <a16:creationId xmlns:a16="http://schemas.microsoft.com/office/drawing/2014/main" id="{CA2C270F-4F29-4B1C-89FF-CAB4B8AD7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57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MCA Course - Master of Computer ...">
            <a:extLst>
              <a:ext uri="{FF2B5EF4-FFF2-40B4-BE49-F238E27FC236}">
                <a16:creationId xmlns:a16="http://schemas.microsoft.com/office/drawing/2014/main" id="{9C2B57BE-160A-498D-B5DF-CF77181A3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CDD7342-A675-4978-8ECA-27470F85C89D}"/>
              </a:ext>
            </a:extLst>
          </p:cNvPr>
          <p:cNvSpPr/>
          <p:nvPr/>
        </p:nvSpPr>
        <p:spPr>
          <a:xfrm>
            <a:off x="874643" y="609600"/>
            <a:ext cx="10190922" cy="6309420"/>
          </a:xfrm>
          <a:prstGeom prst="rect">
            <a:avLst/>
          </a:prstGeom>
        </p:spPr>
        <p:txBody>
          <a:bodyPr wrap="square">
            <a:spAutoFit/>
          </a:bodyPr>
          <a:lstStyle/>
          <a:p>
            <a:r>
              <a:rPr lang="en-US" b="1" dirty="0">
                <a:latin typeface="Times New Roman"/>
              </a:rPr>
              <a:t>                                                                     </a:t>
            </a:r>
            <a:r>
              <a:rPr lang="en-US" sz="2600" b="1" dirty="0">
                <a:latin typeface="Times New Roman"/>
              </a:rPr>
              <a:t>Recommendations</a:t>
            </a:r>
          </a:p>
          <a:p>
            <a:endParaRPr lang="en-US" b="1" dirty="0"/>
          </a:p>
          <a:p>
            <a:pPr marL="285750" indent="-285750">
              <a:buFont typeface="Wingdings" panose="05000000000000000000" pitchFamily="2" charset="2"/>
              <a:buChar char="q"/>
            </a:pPr>
            <a:r>
              <a:rPr lang="en-US" dirty="0"/>
              <a:t>Conduct regular training programs and workshops to increase awareness of AI recruitment systems </a:t>
            </a:r>
          </a:p>
          <a:p>
            <a:pPr marL="285750" indent="-285750">
              <a:buFont typeface="Wingdings" panose="05000000000000000000" pitchFamily="2" charset="2"/>
              <a:buChar char="q"/>
            </a:pPr>
            <a:r>
              <a:rPr lang="en-US" dirty="0"/>
              <a:t>Promote adoption of AI tools across HR departments to improve efficiency </a:t>
            </a:r>
          </a:p>
          <a:p>
            <a:pPr marL="285750" indent="-285750">
              <a:buFont typeface="Wingdings" panose="05000000000000000000" pitchFamily="2" charset="2"/>
              <a:buChar char="q"/>
            </a:pPr>
            <a:r>
              <a:rPr lang="en-US" dirty="0"/>
              <a:t>Use AI as a support tool, not a replacement for human recruiters </a:t>
            </a:r>
          </a:p>
          <a:p>
            <a:pPr marL="285750" indent="-285750">
              <a:buFont typeface="Wingdings" panose="05000000000000000000" pitchFamily="2" charset="2"/>
              <a:buChar char="q"/>
            </a:pPr>
            <a:r>
              <a:rPr lang="en-US" dirty="0"/>
              <a:t>Maintain a balance between AI automation and human judgment in hiring decisions </a:t>
            </a:r>
          </a:p>
          <a:p>
            <a:pPr marL="285750" indent="-285750">
              <a:buFont typeface="Wingdings" panose="05000000000000000000" pitchFamily="2" charset="2"/>
              <a:buChar char="q"/>
            </a:pPr>
            <a:r>
              <a:rPr lang="en-US" dirty="0"/>
              <a:t>Implement strong data privacy and security measures to protect candidate information </a:t>
            </a:r>
          </a:p>
          <a:p>
            <a:pPr marL="285750" indent="-285750">
              <a:buFont typeface="Wingdings" panose="05000000000000000000" pitchFamily="2" charset="2"/>
              <a:buChar char="q"/>
            </a:pPr>
            <a:r>
              <a:rPr lang="en-US" dirty="0"/>
              <a:t>Ensure transparency in AI decision-making using Explainable AI (XAI) models </a:t>
            </a:r>
          </a:p>
          <a:p>
            <a:pPr marL="285750" indent="-285750">
              <a:buFont typeface="Wingdings" panose="05000000000000000000" pitchFamily="2" charset="2"/>
              <a:buChar char="q"/>
            </a:pPr>
            <a:r>
              <a:rPr lang="en-US" dirty="0"/>
              <a:t>Regularly monitor and audit AI systems to identify and reduce algorithmic bias </a:t>
            </a:r>
          </a:p>
          <a:p>
            <a:pPr marL="285750" indent="-285750">
              <a:buFont typeface="Wingdings" panose="05000000000000000000" pitchFamily="2" charset="2"/>
              <a:buChar char="q"/>
            </a:pPr>
            <a:r>
              <a:rPr lang="en-US" dirty="0"/>
              <a:t>Use diverse and unbiased training data for better fairness in recruitment </a:t>
            </a:r>
          </a:p>
          <a:p>
            <a:pPr marL="285750" indent="-285750">
              <a:buFont typeface="Wingdings" panose="05000000000000000000" pitchFamily="2" charset="2"/>
              <a:buChar char="q"/>
            </a:pPr>
            <a:r>
              <a:rPr lang="en-US" dirty="0"/>
              <a:t>Improve resume parsing accuracy using advanced NLP techniques </a:t>
            </a:r>
          </a:p>
          <a:p>
            <a:pPr marL="285750" indent="-285750">
              <a:buFont typeface="Wingdings" panose="05000000000000000000" pitchFamily="2" charset="2"/>
              <a:buChar char="q"/>
            </a:pPr>
            <a:r>
              <a:rPr lang="en-US" dirty="0"/>
              <a:t>Standardize resume formats or provide structured application templates </a:t>
            </a:r>
          </a:p>
          <a:p>
            <a:pPr marL="285750" indent="-285750">
              <a:buFont typeface="Wingdings" panose="05000000000000000000" pitchFamily="2" charset="2"/>
              <a:buChar char="q"/>
            </a:pPr>
            <a:r>
              <a:rPr lang="en-US" dirty="0"/>
              <a:t>Continuously upgrade AI systems with new technologies and features </a:t>
            </a:r>
          </a:p>
          <a:p>
            <a:pPr marL="285750" indent="-285750">
              <a:buFont typeface="Wingdings" panose="05000000000000000000" pitchFamily="2" charset="2"/>
              <a:buChar char="q"/>
            </a:pPr>
            <a:r>
              <a:rPr lang="en-US" dirty="0"/>
              <a:t>Integrate AI tools with existing HR systems and platforms </a:t>
            </a:r>
          </a:p>
          <a:p>
            <a:pPr marL="285750" indent="-285750">
              <a:buFont typeface="Wingdings" panose="05000000000000000000" pitchFamily="2" charset="2"/>
              <a:buChar char="q"/>
            </a:pPr>
            <a:r>
              <a:rPr lang="en-US" dirty="0"/>
              <a:t>Encourage ethical use of AI to build trust among users </a:t>
            </a:r>
          </a:p>
          <a:p>
            <a:pPr marL="285750" indent="-285750">
              <a:buFont typeface="Wingdings" panose="05000000000000000000" pitchFamily="2" charset="2"/>
              <a:buChar char="q"/>
            </a:pPr>
            <a:r>
              <a:rPr lang="en-US" dirty="0"/>
              <a:t>Introduce AI implementation gradually with proper planning and monitoring </a:t>
            </a:r>
          </a:p>
          <a:p>
            <a:pPr marL="285750" indent="-285750">
              <a:buFont typeface="Wingdings" panose="05000000000000000000" pitchFamily="2" charset="2"/>
              <a:buChar char="q"/>
            </a:pPr>
            <a:r>
              <a:rPr lang="en-US" dirty="0"/>
              <a:t>Focus on improving scalability and system performance for large datasets </a:t>
            </a:r>
          </a:p>
          <a:p>
            <a:pPr marL="285750" indent="-285750">
              <a:buFont typeface="Wingdings" panose="05000000000000000000" pitchFamily="2" charset="2"/>
              <a:buChar char="q"/>
            </a:pPr>
            <a:r>
              <a:rPr lang="en-US" dirty="0"/>
              <a:t>Combine AI efficiency with human insights for better hiring quality </a:t>
            </a:r>
          </a:p>
          <a:p>
            <a:pPr marL="285750" indent="-285750">
              <a:buFont typeface="Wingdings" panose="05000000000000000000" pitchFamily="2" charset="2"/>
              <a:buChar char="q"/>
            </a:pPr>
            <a:r>
              <a:rPr lang="en-US" dirty="0"/>
              <a:t>Ensure compliance with legal and ethical standards in recruitment processes </a:t>
            </a:r>
          </a:p>
          <a:p>
            <a:pPr marL="285750" indent="-285750">
              <a:buFont typeface="Wingdings" panose="05000000000000000000" pitchFamily="2" charset="2"/>
              <a:buChar char="q"/>
            </a:pPr>
            <a:r>
              <a:rPr lang="en-US" dirty="0"/>
              <a:t>Overall aim: create a fast, fair, transparent, and efficient recruitment system</a:t>
            </a:r>
          </a:p>
          <a:p>
            <a:endParaRPr lang="en-US" b="1" dirty="0">
              <a:latin typeface="Times New Roman"/>
            </a:endParaRPr>
          </a:p>
          <a:p>
            <a:endParaRPr lang="en-US" dirty="0"/>
          </a:p>
        </p:txBody>
      </p:sp>
    </p:spTree>
    <p:extLst>
      <p:ext uri="{BB962C8B-B14F-4D97-AF65-F5344CB8AC3E}">
        <p14:creationId xmlns:p14="http://schemas.microsoft.com/office/powerpoint/2010/main" val="994004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C84D2A-9701-4EDE-9AF1-E55567B6B501}"/>
              </a:ext>
            </a:extLst>
          </p:cNvPr>
          <p:cNvSpPr/>
          <p:nvPr/>
        </p:nvSpPr>
        <p:spPr>
          <a:xfrm>
            <a:off x="622853" y="967409"/>
            <a:ext cx="10654748" cy="4647426"/>
          </a:xfrm>
          <a:prstGeom prst="rect">
            <a:avLst/>
          </a:prstGeom>
        </p:spPr>
        <p:txBody>
          <a:bodyPr wrap="square">
            <a:spAutoFit/>
          </a:bodyPr>
          <a:lstStyle/>
          <a:p>
            <a:r>
              <a:rPr lang="en-US" b="1" dirty="0">
                <a:latin typeface="Times New Roman"/>
              </a:rPr>
              <a:t>                                                                               </a:t>
            </a:r>
            <a:r>
              <a:rPr lang="en-US" sz="2600" b="1" dirty="0">
                <a:latin typeface="Times New Roman"/>
              </a:rPr>
              <a:t>Limitations</a:t>
            </a:r>
          </a:p>
          <a:p>
            <a:endParaRPr lang="en-US" b="1" dirty="0"/>
          </a:p>
          <a:p>
            <a:pPr marL="285750" indent="-285750">
              <a:buFont typeface="Wingdings" panose="05000000000000000000" pitchFamily="2" charset="2"/>
              <a:buChar char="q"/>
            </a:pPr>
            <a:r>
              <a:rPr lang="en-US" dirty="0"/>
              <a:t>Limited sample size (80–120 respondents) may not represent the entire population </a:t>
            </a:r>
          </a:p>
          <a:p>
            <a:pPr marL="285750" indent="-285750">
              <a:buFont typeface="Wingdings" panose="05000000000000000000" pitchFamily="2" charset="2"/>
              <a:buChar char="q"/>
            </a:pPr>
            <a:r>
              <a:rPr lang="en-US" dirty="0"/>
              <a:t>Findings may lack generalization across all industries and organizations </a:t>
            </a:r>
          </a:p>
          <a:p>
            <a:pPr marL="285750" indent="-285750">
              <a:buFont typeface="Wingdings" panose="05000000000000000000" pitchFamily="2" charset="2"/>
              <a:buChar char="q"/>
            </a:pPr>
            <a:r>
              <a:rPr lang="en-US" dirty="0"/>
              <a:t>Time constraints restricted in-depth data collection and analysis </a:t>
            </a:r>
          </a:p>
          <a:p>
            <a:pPr marL="285750" indent="-285750">
              <a:buFont typeface="Wingdings" panose="05000000000000000000" pitchFamily="2" charset="2"/>
              <a:buChar char="q"/>
            </a:pPr>
            <a:r>
              <a:rPr lang="en-US" dirty="0"/>
              <a:t>Study focused on key aspects only; not all dimensions of AI recruitment were explored </a:t>
            </a:r>
          </a:p>
          <a:p>
            <a:pPr marL="285750" indent="-285750">
              <a:buFont typeface="Wingdings" panose="05000000000000000000" pitchFamily="2" charset="2"/>
              <a:buChar char="q"/>
            </a:pPr>
            <a:r>
              <a:rPr lang="en-US" dirty="0"/>
              <a:t>Geographic limitation – data collected from a specific region only </a:t>
            </a:r>
          </a:p>
          <a:p>
            <a:pPr marL="285750" indent="-285750">
              <a:buFont typeface="Wingdings" panose="05000000000000000000" pitchFamily="2" charset="2"/>
              <a:buChar char="q"/>
            </a:pPr>
            <a:r>
              <a:rPr lang="en-US" dirty="0"/>
              <a:t>Results may vary across different locations, industries, and organizational structures </a:t>
            </a:r>
          </a:p>
          <a:p>
            <a:pPr marL="285750" indent="-285750">
              <a:buFont typeface="Wingdings" panose="05000000000000000000" pitchFamily="2" charset="2"/>
              <a:buChar char="q"/>
            </a:pPr>
            <a:r>
              <a:rPr lang="en-US" dirty="0"/>
              <a:t>Dependence on self-reported data may lead to response bias </a:t>
            </a:r>
          </a:p>
          <a:p>
            <a:pPr marL="285750" indent="-285750">
              <a:buFont typeface="Wingdings" panose="05000000000000000000" pitchFamily="2" charset="2"/>
              <a:buChar char="q"/>
            </a:pPr>
            <a:r>
              <a:rPr lang="en-US" dirty="0"/>
              <a:t>Convenience sampling reduces accuracy and representativeness of results </a:t>
            </a:r>
          </a:p>
          <a:p>
            <a:pPr marL="285750" indent="-285750">
              <a:buFont typeface="Wingdings" panose="05000000000000000000" pitchFamily="2" charset="2"/>
              <a:buChar char="q"/>
            </a:pPr>
            <a:r>
              <a:rPr lang="en-US" dirty="0"/>
              <a:t>Limited real-world testing of AI models in live recruitment environments </a:t>
            </a:r>
          </a:p>
          <a:p>
            <a:pPr marL="285750" indent="-285750">
              <a:buFont typeface="Wingdings" panose="05000000000000000000" pitchFamily="2" charset="2"/>
              <a:buChar char="q"/>
            </a:pPr>
            <a:r>
              <a:rPr lang="en-US" dirty="0"/>
              <a:t>Rapid changes in AI technology may make findings time-sensitive </a:t>
            </a:r>
          </a:p>
          <a:p>
            <a:pPr marL="285750" indent="-285750">
              <a:buFont typeface="Wingdings" panose="05000000000000000000" pitchFamily="2" charset="2"/>
              <a:buChar char="q"/>
            </a:pPr>
            <a:r>
              <a:rPr lang="en-US" dirty="0"/>
              <a:t>Possible lack of complete understanding of AI among respondents </a:t>
            </a:r>
          </a:p>
          <a:p>
            <a:pPr marL="285750" indent="-285750">
              <a:buFont typeface="Wingdings" panose="05000000000000000000" pitchFamily="2" charset="2"/>
              <a:buChar char="q"/>
            </a:pPr>
            <a:r>
              <a:rPr lang="en-US" dirty="0"/>
              <a:t>External factors like organizational policies and technology adoption not fully considered </a:t>
            </a:r>
          </a:p>
          <a:p>
            <a:pPr marL="285750" indent="-285750">
              <a:buFont typeface="Wingdings" panose="05000000000000000000" pitchFamily="2" charset="2"/>
              <a:buChar char="q"/>
            </a:pPr>
            <a:r>
              <a:rPr lang="en-US" dirty="0"/>
              <a:t>Despite limitations, study provides useful insights for future research and improvements</a:t>
            </a:r>
          </a:p>
          <a:p>
            <a:endParaRPr lang="en-US" dirty="0"/>
          </a:p>
        </p:txBody>
      </p:sp>
      <p:pic>
        <p:nvPicPr>
          <p:cNvPr id="3" name="Picture 2" descr="Online MCA Course - Master of Computer ...">
            <a:extLst>
              <a:ext uri="{FF2B5EF4-FFF2-40B4-BE49-F238E27FC236}">
                <a16:creationId xmlns:a16="http://schemas.microsoft.com/office/drawing/2014/main" id="{848E7859-E338-430D-88A9-ECAEFE116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842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4EE9C1-9C89-49A2-BCE0-D6C89299E259}"/>
              </a:ext>
            </a:extLst>
          </p:cNvPr>
          <p:cNvSpPr/>
          <p:nvPr/>
        </p:nvSpPr>
        <p:spPr>
          <a:xfrm>
            <a:off x="1577009" y="1457739"/>
            <a:ext cx="8600661" cy="4001095"/>
          </a:xfrm>
          <a:prstGeom prst="rect">
            <a:avLst/>
          </a:prstGeom>
        </p:spPr>
        <p:txBody>
          <a:bodyPr wrap="square">
            <a:spAutoFit/>
          </a:bodyPr>
          <a:lstStyle/>
          <a:p>
            <a:endParaRPr lang="en-US" sz="2600" b="1" dirty="0">
              <a:latin typeface="Times New Roman"/>
            </a:endParaRPr>
          </a:p>
          <a:p>
            <a:r>
              <a:rPr lang="en-US" sz="5000" b="1" dirty="0">
                <a:latin typeface="Times New Roman"/>
              </a:rPr>
              <a:t>                 </a:t>
            </a:r>
            <a:r>
              <a:rPr lang="en-US" sz="4500" b="1" dirty="0">
                <a:latin typeface="Times New Roman"/>
              </a:rPr>
              <a:t>Thank You</a:t>
            </a:r>
          </a:p>
          <a:p>
            <a:pPr marL="457200" indent="-457200">
              <a:buFont typeface="Wingdings" panose="05000000000000000000" pitchFamily="2" charset="2"/>
              <a:buChar char="q"/>
            </a:pPr>
            <a:endParaRPr lang="en-US" dirty="0"/>
          </a:p>
          <a:p>
            <a:pPr marL="457200" indent="-457200">
              <a:buFont typeface="Wingdings" panose="05000000000000000000" pitchFamily="2" charset="2"/>
              <a:buChar char="q"/>
            </a:pPr>
            <a:endParaRPr lang="en-US" dirty="0"/>
          </a:p>
          <a:p>
            <a:pPr marL="457200" indent="-457200">
              <a:buFont typeface="Wingdings" panose="05000000000000000000" pitchFamily="2" charset="2"/>
              <a:buChar char="q"/>
            </a:pPr>
            <a:r>
              <a:rPr lang="en-US" dirty="0"/>
              <a:t>Thank you for your time and attention </a:t>
            </a:r>
          </a:p>
          <a:p>
            <a:pPr marL="457200" indent="-457200">
              <a:buFont typeface="Wingdings" panose="05000000000000000000" pitchFamily="2" charset="2"/>
              <a:buChar char="q"/>
            </a:pPr>
            <a:r>
              <a:rPr lang="en-US" dirty="0"/>
              <a:t>Grateful for the opportunity to present this study </a:t>
            </a:r>
          </a:p>
          <a:p>
            <a:pPr marL="457200" indent="-457200">
              <a:buFont typeface="Wingdings" panose="05000000000000000000" pitchFamily="2" charset="2"/>
              <a:buChar char="q"/>
            </a:pPr>
            <a:r>
              <a:rPr lang="en-US" dirty="0"/>
              <a:t>Special thanks to guide/mentor for valuable support </a:t>
            </a:r>
          </a:p>
          <a:p>
            <a:pPr marL="457200" indent="-457200">
              <a:buFont typeface="Wingdings" panose="05000000000000000000" pitchFamily="2" charset="2"/>
              <a:buChar char="q"/>
            </a:pPr>
            <a:r>
              <a:rPr lang="en-US" dirty="0"/>
              <a:t>Thanks to respondents for their participation </a:t>
            </a:r>
          </a:p>
          <a:p>
            <a:pPr marL="457200" indent="-457200">
              <a:buFont typeface="Wingdings" panose="05000000000000000000" pitchFamily="2" charset="2"/>
              <a:buChar char="q"/>
            </a:pPr>
            <a:r>
              <a:rPr lang="en-US" dirty="0"/>
              <a:t>Open to questions and discussion</a:t>
            </a:r>
          </a:p>
          <a:p>
            <a:endParaRPr lang="en-US" sz="2600" dirty="0">
              <a:latin typeface="Times New Roman" panose="02020603050405020304" pitchFamily="18" charset="0"/>
              <a:cs typeface="Times New Roman" panose="02020603050405020304" pitchFamily="18" charset="0"/>
            </a:endParaRPr>
          </a:p>
          <a:p>
            <a:endParaRPr lang="en-US" sz="2600" dirty="0"/>
          </a:p>
        </p:txBody>
      </p:sp>
      <p:pic>
        <p:nvPicPr>
          <p:cNvPr id="3" name="Picture 2" descr="Online MCA Course - Master of Computer ...">
            <a:extLst>
              <a:ext uri="{FF2B5EF4-FFF2-40B4-BE49-F238E27FC236}">
                <a16:creationId xmlns:a16="http://schemas.microsoft.com/office/drawing/2014/main" id="{013502ED-03F4-4359-A948-AEAD7FB46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170764"/>
            <a:ext cx="2648025" cy="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034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2156</Words>
  <Application>Microsoft Office PowerPoint</Application>
  <PresentationFormat>Widescreen</PresentationFormat>
  <Paragraphs>250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AI-Based Recruitment and Resume Screening Application</vt:lpstr>
      <vt:lpstr>                                                                                      Abstract / Executive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Recruitment and Resume Screening Application</dc:title>
  <dc:creator>SAMSUNG</dc:creator>
  <cp:lastModifiedBy>SAMSUNG</cp:lastModifiedBy>
  <cp:revision>28</cp:revision>
  <dcterms:created xsi:type="dcterms:W3CDTF">2026-04-21T16:09:58Z</dcterms:created>
  <dcterms:modified xsi:type="dcterms:W3CDTF">2026-04-21T17:24:13Z</dcterms:modified>
</cp:coreProperties>
</file>